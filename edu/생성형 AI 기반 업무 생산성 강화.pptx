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24384000" cy="13716000"/>
  <p:notesSz cx="6858000" cy="9144000"/>
  <p:embeddedFontLst>
    <p:embeddedFont>
      <p:font typeface="MapoDPP" panose="020B0600000101010101" charset="-127"/>
      <p:regular r:id="rId22"/>
    </p:embeddedFont>
    <p:embeddedFont>
      <p:font typeface="Pretendard Bold" panose="020B0600000101010101" charset="-127"/>
      <p:bold r:id="rId23"/>
    </p:embeddedFont>
    <p:embeddedFont>
      <p:font typeface="Pretendard Light" panose="020B0600000101010101" charset="-127"/>
      <p:regular r:id="rId24"/>
    </p:embeddedFont>
    <p:embeddedFont>
      <p:font typeface="Pretendard Regular" panose="020B0600000101010101" charset="-127"/>
      <p:regular r:id="rId25"/>
    </p:embeddedFont>
    <p:embeddedFont>
      <p:font typeface="Pretendard SemiBold" panose="020B0600000101010101" charset="-127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inzel Bold" panose="020B0600000101010101" charset="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재성 박" initials="재박" lastIdx="1" clrIdx="0">
    <p:extLst>
      <p:ext uri="{19B8F6BF-5375-455C-9EA6-DF929625EA0E}">
        <p15:presenceInfo xmlns:p15="http://schemas.microsoft.com/office/powerpoint/2012/main" userId="dd5cd3b94923581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18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4.png"/><Relationship Id="rId4" Type="http://schemas.openxmlformats.org/officeDocument/2006/relationships/image" Target="../media/image39.png"/><Relationship Id="rId9" Type="http://schemas.openxmlformats.org/officeDocument/2006/relationships/image" Target="../media/image4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32.png"/><Relationship Id="rId4" Type="http://schemas.openxmlformats.org/officeDocument/2006/relationships/image" Target="../media/image45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27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27.png"/><Relationship Id="rId7" Type="http://schemas.openxmlformats.org/officeDocument/2006/relationships/image" Target="../media/image6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59.png"/><Relationship Id="rId3" Type="http://schemas.openxmlformats.org/officeDocument/2006/relationships/image" Target="../media/image27.png"/><Relationship Id="rId7" Type="http://schemas.openxmlformats.org/officeDocument/2006/relationships/image" Target="../media/image70.png"/><Relationship Id="rId12" Type="http://schemas.openxmlformats.org/officeDocument/2006/relationships/image" Target="../media/image7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57.png"/><Relationship Id="rId5" Type="http://schemas.openxmlformats.org/officeDocument/2006/relationships/image" Target="../media/image4.png"/><Relationship Id="rId10" Type="http://schemas.openxmlformats.org/officeDocument/2006/relationships/image" Target="../media/image73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png"/><Relationship Id="rId7" Type="http://schemas.openxmlformats.org/officeDocument/2006/relationships/image" Target="../media/image7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7.png"/><Relationship Id="rId7" Type="http://schemas.openxmlformats.org/officeDocument/2006/relationships/image" Target="../media/image1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4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4.png"/><Relationship Id="rId5" Type="http://schemas.openxmlformats.org/officeDocument/2006/relationships/image" Target="../media/image19.png"/><Relationship Id="rId10" Type="http://schemas.openxmlformats.org/officeDocument/2006/relationships/image" Target="../media/image32.png"/><Relationship Id="rId4" Type="http://schemas.openxmlformats.org/officeDocument/2006/relationships/image" Target="../media/image80.png"/><Relationship Id="rId9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27.png"/><Relationship Id="rId7" Type="http://schemas.openxmlformats.org/officeDocument/2006/relationships/image" Target="../media/image8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39.png"/><Relationship Id="rId9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png"/><Relationship Id="rId7" Type="http://schemas.openxmlformats.org/officeDocument/2006/relationships/image" Target="../media/image8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9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8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27.png"/><Relationship Id="rId7" Type="http://schemas.openxmlformats.org/officeDocument/2006/relationships/image" Target="../media/image9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10.png"/><Relationship Id="rId7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47.png"/><Relationship Id="rId10" Type="http://schemas.openxmlformats.org/officeDocument/2006/relationships/image" Target="../media/image4.png"/><Relationship Id="rId4" Type="http://schemas.openxmlformats.org/officeDocument/2006/relationships/image" Target="../media/image97.png"/><Relationship Id="rId9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112000" y="-3556000"/>
            <a:ext cx="10172700" cy="22631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1765300"/>
            <a:ext cx="2908300" cy="290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2590800"/>
            <a:ext cx="1295400" cy="128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7000" y="4241800"/>
            <a:ext cx="3810000" cy="8089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17487900" y="98933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63000" y="8585200"/>
            <a:ext cx="1117600" cy="130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30800" y="8851900"/>
            <a:ext cx="381000" cy="381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769850" y="11195050"/>
            <a:ext cx="4622800" cy="8255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666" b="0" i="0" u="none" strike="noStrike" dirty="0" err="1">
                <a:solidFill>
                  <a:srgbClr val="242424"/>
                </a:solidFill>
                <a:ea typeface="Pretendard SemiBold"/>
              </a:rPr>
              <a:t>팀</a:t>
            </a:r>
            <a:r>
              <a:rPr lang="ko-KR" altLang="en-US" sz="4666" b="0" i="0" u="none" strike="noStrike" dirty="0" err="1">
                <a:solidFill>
                  <a:srgbClr val="242424"/>
                </a:solidFill>
                <a:ea typeface="Pretendard SemiBold"/>
              </a:rPr>
              <a:t>명</a:t>
            </a:r>
            <a:r>
              <a:rPr lang="ko-KR" altLang="en-US" sz="4666" b="0" i="0" u="none" strike="noStrike" dirty="0">
                <a:solidFill>
                  <a:srgbClr val="242424"/>
                </a:solidFill>
                <a:ea typeface="Pretendard SemiBold"/>
              </a:rPr>
              <a:t> </a:t>
            </a:r>
            <a:r>
              <a:rPr lang="en-US" altLang="ko-KR" sz="4666" b="0" i="0" u="none" strike="noStrike" dirty="0">
                <a:solidFill>
                  <a:srgbClr val="242424"/>
                </a:solidFill>
                <a:ea typeface="Pretendard SemiBold"/>
              </a:rPr>
              <a:t>: </a:t>
            </a:r>
            <a:r>
              <a:rPr lang="en-US" sz="4666" b="0" i="0" u="none" strike="noStrike" dirty="0">
                <a:solidFill>
                  <a:srgbClr val="242424"/>
                </a:solidFill>
                <a:latin typeface="Pretendard SemiBold"/>
              </a:rPr>
              <a:t> </a:t>
            </a:r>
            <a:r>
              <a:rPr lang="ko-KR" sz="4666" b="0" i="0" u="none" strike="noStrike" dirty="0">
                <a:solidFill>
                  <a:srgbClr val="242424"/>
                </a:solidFill>
                <a:ea typeface="Pretendard SemiBold"/>
              </a:rPr>
              <a:t>다작</a:t>
            </a:r>
            <a:r>
              <a:rPr lang="en-US" altLang="ko-KR" sz="4666" b="0" i="0" u="none" strike="noStrike" dirty="0">
                <a:solidFill>
                  <a:srgbClr val="242424"/>
                </a:solidFill>
                <a:ea typeface="Pretendard SemiBold"/>
              </a:rPr>
              <a:t>(</a:t>
            </a:r>
            <a:r>
              <a:rPr lang="ko-KR" altLang="en-US" sz="4666" b="0" i="0" u="none" strike="noStrike" dirty="0">
                <a:solidFill>
                  <a:srgbClr val="242424"/>
                </a:solidFill>
                <a:ea typeface="Pretendard SemiBold"/>
              </a:rPr>
              <a:t>多作</a:t>
            </a:r>
            <a:r>
              <a:rPr lang="en-US" altLang="ko-KR" sz="4666" b="0" i="0" u="none" strike="noStrike" dirty="0">
                <a:solidFill>
                  <a:srgbClr val="242424"/>
                </a:solidFill>
                <a:ea typeface="Pretendard SemiBold"/>
              </a:rPr>
              <a:t>)</a:t>
            </a:r>
            <a:endParaRPr lang="ko-KR" sz="4666" b="0" i="0" u="none" strike="noStrike" dirty="0">
              <a:solidFill>
                <a:srgbClr val="242424"/>
              </a:solidFill>
              <a:ea typeface="Pretendard Semi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050000" y="2921000"/>
            <a:ext cx="3581400" cy="431800"/>
          </a:xfrm>
          <a:prstGeom prst="rect">
            <a:avLst/>
          </a:prstGeom>
        </p:spPr>
        <p:txBody>
          <a:bodyPr lIns="0" tIns="30479" rIns="0" bIns="30479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ystem-ui"/>
              </a:rPr>
              <a:t>광주 </a:t>
            </a:r>
            <a:r>
              <a:rPr lang="en-US" altLang="ko-KR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ystem-ui"/>
              </a:rPr>
              <a:t>ICT</a:t>
            </a:r>
            <a:r>
              <a:rPr lang="en-US" altLang="ko-KR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ystem-ui"/>
              </a:rPr>
              <a:t> </a:t>
            </a:r>
            <a:r>
              <a:rPr lang="ko-KR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system-ui"/>
              </a:rPr>
              <a:t>이노베이션 스퀘어</a:t>
            </a:r>
            <a:endParaRPr lang="en" sz="2399" b="1" i="0" u="none" strike="noStrike" dirty="0">
              <a:solidFill>
                <a:schemeClr val="tx1">
                  <a:lumMod val="65000"/>
                  <a:lumOff val="35000"/>
                </a:schemeClr>
              </a:solidFill>
              <a:latin typeface="Cinze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463800" y="4851400"/>
            <a:ext cx="14643100" cy="3086100"/>
          </a:xfrm>
          <a:prstGeom prst="rect">
            <a:avLst/>
          </a:prstGeom>
        </p:spPr>
        <p:txBody>
          <a:bodyPr lIns="0" tIns="0" rIns="0" bIns="118533" rtlCol="0" anchor="b"/>
          <a:lstStyle/>
          <a:p>
            <a:pPr lvl="0" algn="l">
              <a:lnSpc>
                <a:spcPct val="99600"/>
              </a:lnSpc>
            </a:pPr>
            <a:r>
              <a:rPr lang="ko-KR" sz="9333" b="0" i="0" u="none" strike="noStrike" spc="-93" dirty="0">
                <a:solidFill>
                  <a:srgbClr val="242424"/>
                </a:solidFill>
                <a:ea typeface="MapoDPP"/>
              </a:rPr>
              <a:t>생성형</a:t>
            </a:r>
            <a:r>
              <a:rPr lang="en-US" sz="9333" b="0" i="0" u="none" strike="noStrike" spc="-93" dirty="0">
                <a:solidFill>
                  <a:srgbClr val="242424"/>
                </a:solidFill>
                <a:latin typeface="MapoDPP"/>
              </a:rPr>
              <a:t> AI </a:t>
            </a:r>
            <a:r>
              <a:rPr lang="ko-KR" sz="9333" b="0" i="0" u="none" strike="noStrike" spc="-93" dirty="0">
                <a:solidFill>
                  <a:srgbClr val="242424"/>
                </a:solidFill>
                <a:ea typeface="MapoDPP"/>
              </a:rPr>
              <a:t>기반</a:t>
            </a:r>
            <a:r>
              <a:rPr lang="en-US" sz="9333" b="0" i="0" u="none" strike="noStrike" spc="-93" dirty="0">
                <a:solidFill>
                  <a:srgbClr val="242424"/>
                </a:solidFill>
                <a:latin typeface="MapoDPP"/>
              </a:rPr>
              <a:t> </a:t>
            </a:r>
          </a:p>
          <a:p>
            <a:pPr lvl="0" algn="l">
              <a:lnSpc>
                <a:spcPct val="99600"/>
              </a:lnSpc>
            </a:pPr>
            <a:r>
              <a:rPr lang="ko-KR" sz="9333" b="0" i="0" u="none" strike="noStrike" spc="-93" dirty="0">
                <a:solidFill>
                  <a:srgbClr val="242424"/>
                </a:solidFill>
                <a:ea typeface="MapoDPP"/>
              </a:rPr>
              <a:t>업무</a:t>
            </a:r>
            <a:r>
              <a:rPr lang="en-US" sz="9333" b="0" i="0" u="none" strike="noStrike" spc="-93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9333" b="0" i="0" u="none" strike="noStrike" spc="-93" dirty="0">
                <a:solidFill>
                  <a:srgbClr val="242424"/>
                </a:solidFill>
                <a:ea typeface="MapoDPP"/>
              </a:rPr>
              <a:t>생산성</a:t>
            </a:r>
            <a:r>
              <a:rPr lang="en-US" sz="9333" b="0" i="0" u="none" strike="noStrike" spc="-93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9333" b="0" i="0" u="none" strike="noStrike" spc="-93" dirty="0">
                <a:solidFill>
                  <a:srgbClr val="242424"/>
                </a:solidFill>
                <a:ea typeface="MapoDPP"/>
              </a:rPr>
              <a:t>강화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C214E1D-C8A3-4FF6-B2FF-D90EAC9EB5B8}"/>
              </a:ext>
            </a:extLst>
          </p:cNvPr>
          <p:cNvSpPr txBox="1"/>
          <p:nvPr/>
        </p:nvSpPr>
        <p:spPr>
          <a:xfrm>
            <a:off x="3149600" y="8105775"/>
            <a:ext cx="14465300" cy="825500"/>
          </a:xfrm>
          <a:prstGeom prst="rect">
            <a:avLst/>
          </a:prstGeom>
        </p:spPr>
        <p:txBody>
          <a:bodyPr lIns="0" tIns="59267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4666" b="0" i="0" u="none" strike="noStrike" dirty="0">
                <a:solidFill>
                  <a:srgbClr val="242424"/>
                </a:solidFill>
                <a:ea typeface="Pretendard SemiBold"/>
              </a:rPr>
              <a:t>취업</a:t>
            </a:r>
            <a:r>
              <a:rPr lang="en-US" sz="4666" b="0" i="0" u="none" strike="noStrike" dirty="0">
                <a:solidFill>
                  <a:srgbClr val="242424"/>
                </a:solidFill>
                <a:latin typeface="Pretendard SemiBold"/>
              </a:rPr>
              <a:t>·</a:t>
            </a:r>
            <a:r>
              <a:rPr lang="ko-KR" sz="4666" b="0" i="0" u="none" strike="noStrike" dirty="0">
                <a:solidFill>
                  <a:srgbClr val="242424"/>
                </a:solidFill>
                <a:ea typeface="Pretendard SemiBold"/>
              </a:rPr>
              <a:t>교육</a:t>
            </a:r>
            <a:r>
              <a:rPr lang="en-US" sz="4666" b="0" i="0" u="none" strike="noStrike" dirty="0">
                <a:solidFill>
                  <a:srgbClr val="242424"/>
                </a:solidFill>
                <a:latin typeface="Pretendard SemiBold"/>
              </a:rPr>
              <a:t> </a:t>
            </a:r>
            <a:r>
              <a:rPr lang="ko-KR" sz="4666" b="0" i="0" u="none" strike="noStrike" dirty="0">
                <a:solidFill>
                  <a:srgbClr val="242424"/>
                </a:solidFill>
                <a:ea typeface="Pretendard SemiBold"/>
              </a:rPr>
              <a:t>자료</a:t>
            </a:r>
            <a:r>
              <a:rPr lang="en-US" sz="4666" b="0" i="0" u="none" strike="noStrike" dirty="0">
                <a:solidFill>
                  <a:srgbClr val="242424"/>
                </a:solidFill>
                <a:latin typeface="Pretendard SemiBold"/>
              </a:rPr>
              <a:t> </a:t>
            </a:r>
            <a:r>
              <a:rPr lang="ko-KR" sz="4666" b="0" i="0" u="none" strike="noStrike" dirty="0">
                <a:solidFill>
                  <a:srgbClr val="242424"/>
                </a:solidFill>
                <a:ea typeface="Pretendard SemiBold"/>
              </a:rPr>
              <a:t>제작</a:t>
            </a:r>
            <a:r>
              <a:rPr lang="en-US" sz="4666" b="0" i="0" u="none" strike="noStrike" dirty="0">
                <a:solidFill>
                  <a:srgbClr val="242424"/>
                </a:solidFill>
                <a:latin typeface="Pretendard SemiBold"/>
              </a:rPr>
              <a:t> </a:t>
            </a:r>
            <a:r>
              <a:rPr lang="ko-KR" sz="4666" b="0" i="0" u="none" strike="noStrike" dirty="0">
                <a:solidFill>
                  <a:srgbClr val="242424"/>
                </a:solidFill>
                <a:ea typeface="Pretendard SemiBold"/>
              </a:rPr>
              <a:t>프로젝트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5D00B13-B098-4181-B543-661FB9915807}"/>
              </a:ext>
            </a:extLst>
          </p:cNvPr>
          <p:cNvCxnSpPr/>
          <p:nvPr/>
        </p:nvCxnSpPr>
        <p:spPr>
          <a:xfrm>
            <a:off x="2514600" y="7924800"/>
            <a:ext cx="8991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112000" y="-3556000"/>
            <a:ext cx="10172700" cy="22631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1765300"/>
            <a:ext cx="2908300" cy="290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2590800"/>
            <a:ext cx="1295400" cy="128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6934200"/>
            <a:ext cx="19964400" cy="5029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8039100"/>
            <a:ext cx="21082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429000" y="7721600"/>
            <a:ext cx="46101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sz="3733" b="0" i="0" u="none" strike="noStrike">
                <a:solidFill>
                  <a:srgbClr val="242424"/>
                </a:solidFill>
                <a:latin typeface="Pretendard Bold"/>
              </a:rPr>
              <a:t>ICT </a:t>
            </a: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소개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66400" y="7848600"/>
            <a:ext cx="6731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" sz="2399" b="0" i="0" u="none" strike="noStrike">
                <a:solidFill>
                  <a:srgbClr val="242424"/>
                </a:solidFill>
                <a:latin typeface="Cinzel Bold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29000" y="9093200"/>
            <a:ext cx="46101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팀</a:t>
            </a:r>
            <a:r>
              <a:rPr lang="en-US" sz="3733" b="0" i="0" u="none" strike="noStrike">
                <a:solidFill>
                  <a:srgbClr val="242424"/>
                </a:solidFill>
                <a:latin typeface="Pretendard Bold"/>
              </a:rPr>
              <a:t> </a:t>
            </a: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다작</a:t>
            </a:r>
            <a:r>
              <a:rPr lang="en-US" sz="3733" b="0" i="0" u="none" strike="noStrike">
                <a:solidFill>
                  <a:srgbClr val="242424"/>
                </a:solidFill>
                <a:latin typeface="Pretendard Bold"/>
              </a:rPr>
              <a:t> </a:t>
            </a: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소개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29000" y="10464800"/>
            <a:ext cx="46101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프로젝트</a:t>
            </a:r>
            <a:r>
              <a:rPr lang="en-US" sz="3733" b="0" i="0" u="none" strike="noStrike">
                <a:solidFill>
                  <a:srgbClr val="242424"/>
                </a:solidFill>
                <a:latin typeface="Pretendard Bold"/>
              </a:rPr>
              <a:t> </a:t>
            </a: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결과물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66400" y="9220200"/>
            <a:ext cx="6731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" sz="2399" b="0" i="0" u="none" strike="noStrike">
                <a:solidFill>
                  <a:srgbClr val="242424"/>
                </a:solidFill>
                <a:latin typeface="Cinzel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66400" y="10591800"/>
            <a:ext cx="6731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" sz="2399" b="0" i="0" u="none" strike="noStrike">
                <a:solidFill>
                  <a:srgbClr val="242424"/>
                </a:solidFill>
                <a:latin typeface="Cinzel Bold"/>
              </a:rPr>
              <a:t>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82600" y="7721600"/>
            <a:ext cx="46101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구름</a:t>
            </a:r>
            <a:r>
              <a:rPr lang="en-US" sz="3733" b="0" i="0" u="none" strike="noStrike">
                <a:solidFill>
                  <a:srgbClr val="242424"/>
                </a:solidFill>
                <a:latin typeface="Pretendard Bold"/>
              </a:rPr>
              <a:t> </a:t>
            </a: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플랫폼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320000" y="7848600"/>
            <a:ext cx="6731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" sz="2399" b="0" i="0" u="none" strike="noStrike">
                <a:solidFill>
                  <a:srgbClr val="242424"/>
                </a:solidFill>
                <a:latin typeface="Cinzel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82600" y="9093200"/>
            <a:ext cx="46101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프로젝트</a:t>
            </a:r>
            <a:r>
              <a:rPr lang="en-US" sz="3733" b="0" i="0" u="none" strike="noStrike">
                <a:solidFill>
                  <a:srgbClr val="242424"/>
                </a:solidFill>
                <a:latin typeface="Pretendard Bold"/>
              </a:rPr>
              <a:t> </a:t>
            </a: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방향성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6900" y="9423400"/>
            <a:ext cx="2108200" cy="2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10795000"/>
            <a:ext cx="21082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83200" y="8051800"/>
            <a:ext cx="21082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83200" y="9423400"/>
            <a:ext cx="21082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70500" y="10795000"/>
            <a:ext cx="2108200" cy="25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182600" y="10464800"/>
            <a:ext cx="46101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향후</a:t>
            </a:r>
            <a:r>
              <a:rPr lang="en-US" sz="3733" b="0" i="0" u="none" strike="noStrike">
                <a:solidFill>
                  <a:srgbClr val="242424"/>
                </a:solidFill>
                <a:latin typeface="Pretendard Bold"/>
              </a:rPr>
              <a:t> </a:t>
            </a:r>
            <a:r>
              <a:rPr lang="ko-KR" sz="3733" b="0" i="0" u="none" strike="noStrike">
                <a:solidFill>
                  <a:srgbClr val="242424"/>
                </a:solidFill>
                <a:ea typeface="Pretendard Bold"/>
              </a:rPr>
              <a:t>발전방향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320000" y="9220200"/>
            <a:ext cx="6731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" sz="2399" b="0" i="0" u="none" strike="noStrike">
                <a:solidFill>
                  <a:srgbClr val="242424"/>
                </a:solidFill>
                <a:latin typeface="Cinzel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320000" y="10591800"/>
            <a:ext cx="673100" cy="4318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" sz="2399" b="0" i="0" u="none" strike="noStrike">
                <a:solidFill>
                  <a:srgbClr val="242424"/>
                </a:solidFill>
                <a:latin typeface="Cinzel Bold"/>
              </a:rPr>
              <a:t>06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70100" y="4318000"/>
            <a:ext cx="20231100" cy="1257300"/>
          </a:xfrm>
          <a:prstGeom prst="rect">
            <a:avLst/>
          </a:prstGeom>
        </p:spPr>
        <p:txBody>
          <a:bodyPr lIns="0" tIns="8974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7066" b="0" i="0" u="none" strike="noStrike" spc="-71">
                <a:solidFill>
                  <a:srgbClr val="242424"/>
                </a:solidFill>
                <a:ea typeface="MapoDPP"/>
              </a:rPr>
              <a:t>목차</a:t>
            </a:r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A04176D7-12EE-4C44-93B7-AB54DDEA89E9}"/>
              </a:ext>
            </a:extLst>
          </p:cNvPr>
          <p:cNvSpPr txBox="1"/>
          <p:nvPr/>
        </p:nvSpPr>
        <p:spPr>
          <a:xfrm>
            <a:off x="19418300" y="28956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광주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ICT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이노베이션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스퀘어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700" y="8318500"/>
            <a:ext cx="11442700" cy="4089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91800" y="8902700"/>
            <a:ext cx="10668000" cy="29083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광주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ICT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이노베이션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스퀘어는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지역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ICT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인재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양성을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위한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허브</a:t>
            </a:r>
          </a:p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생성형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AI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업무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생산성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강화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과정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운영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중</a:t>
            </a:r>
          </a:p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온라인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/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무료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교육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(2025.08.07~10.02)</a:t>
            </a:r>
          </a:p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공식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웹사이트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: ict-gwangju.goorm.io/</a:t>
            </a:r>
            <a:r>
              <a:rPr lang="en-US" sz="2933" b="0" i="0" u="none" strike="noStrike" dirty="0" err="1">
                <a:solidFill>
                  <a:srgbClr val="242424"/>
                </a:solidFill>
                <a:latin typeface="Pretendard Light"/>
              </a:rPr>
              <a:t>genai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-productivity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45700" y="6858000"/>
            <a:ext cx="10426700" cy="7874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생성형</a:t>
            </a:r>
            <a:r>
              <a:rPr lang="en-US" sz="4399" b="0" i="0" u="none" strike="noStrike" spc="-176">
                <a:solidFill>
                  <a:srgbClr val="FFFFFF"/>
                </a:solidFill>
                <a:latin typeface="MapoDPP"/>
              </a:rPr>
              <a:t> AI </a:t>
            </a: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기반</a:t>
            </a:r>
            <a:r>
              <a:rPr lang="en-US" sz="4399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업무</a:t>
            </a:r>
            <a:r>
              <a:rPr lang="en-US" sz="4399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생산성</a:t>
            </a:r>
            <a:r>
              <a:rPr lang="en-US" sz="4399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강화</a:t>
            </a:r>
            <a:r>
              <a:rPr lang="en-US" sz="4399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과정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5A3FAEC-4592-4941-9C63-92E9E90C91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978732"/>
            <a:ext cx="4953000" cy="844504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953CBB5-7578-451A-82D9-49FDB90C5A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5700" y="4013200"/>
            <a:ext cx="10754979" cy="1765300"/>
          </a:xfrm>
          <a:prstGeom prst="rect">
            <a:avLst/>
          </a:prstGeom>
        </p:spPr>
      </p:pic>
      <p:sp>
        <p:nvSpPr>
          <p:cNvPr id="19" name="TextBox 4">
            <a:extLst>
              <a:ext uri="{FF2B5EF4-FFF2-40B4-BE49-F238E27FC236}">
                <a16:creationId xmlns:a16="http://schemas.microsoft.com/office/drawing/2014/main" id="{80714615-0F75-411A-BD54-687E8721802E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5384800"/>
            <a:ext cx="4381500" cy="669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9791700"/>
            <a:ext cx="876300" cy="1308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677400" y="5613400"/>
            <a:ext cx="11201400" cy="3200400"/>
          </a:xfrm>
          <a:prstGeom prst="rect">
            <a:avLst/>
          </a:prstGeom>
        </p:spPr>
        <p:txBody>
          <a:bodyPr lIns="0" tIns="0" rIns="0" bIns="59266" rtlCol="0" anchor="b"/>
          <a:lstStyle/>
          <a:p>
            <a:pPr lvl="0" algn="l">
              <a:lnSpc>
                <a:spcPct val="107899"/>
              </a:lnSpc>
            </a:pPr>
            <a:r>
              <a:rPr lang="ko-KR" sz="9333" b="0" i="0" u="none" strike="noStrike" spc="-93">
                <a:solidFill>
                  <a:srgbClr val="FFFFFF"/>
                </a:solidFill>
                <a:ea typeface="MapoDPP"/>
              </a:rPr>
              <a:t>클라우드</a:t>
            </a:r>
            <a:r>
              <a:rPr lang="en-US" sz="9333" b="0" i="0" u="none" strike="noStrike" spc="-93">
                <a:solidFill>
                  <a:srgbClr val="FFFFFF"/>
                </a:solidFill>
                <a:latin typeface="MapoDPP"/>
              </a:rPr>
              <a:t> </a:t>
            </a:r>
            <a:r>
              <a:rPr lang="ko-KR" sz="9333" b="0" i="0" u="none" strike="noStrike" spc="-93">
                <a:solidFill>
                  <a:srgbClr val="FFFFFF"/>
                </a:solidFill>
                <a:ea typeface="MapoDPP"/>
              </a:rPr>
              <a:t>기반</a:t>
            </a:r>
            <a:r>
              <a:rPr lang="en-US" sz="9333" b="0" i="0" u="none" strike="noStrike" spc="-93">
                <a:solidFill>
                  <a:srgbClr val="FFFFFF"/>
                </a:solidFill>
                <a:latin typeface="MapoDPP"/>
              </a:rPr>
              <a:t> </a:t>
            </a:r>
            <a:r>
              <a:rPr lang="ko-KR" sz="9333" b="0" i="0" u="none" strike="noStrike" spc="-93">
                <a:solidFill>
                  <a:srgbClr val="FFFFFF"/>
                </a:solidFill>
                <a:ea typeface="MapoDPP"/>
              </a:rPr>
              <a:t>교육</a:t>
            </a:r>
            <a:r>
              <a:rPr lang="en-US" sz="9333" b="0" i="0" u="none" strike="noStrike" spc="-93">
                <a:solidFill>
                  <a:srgbClr val="FFFFFF"/>
                </a:solidFill>
                <a:latin typeface="MapoDPP"/>
              </a:rPr>
              <a:t> </a:t>
            </a:r>
            <a:r>
              <a:rPr lang="ko-KR" sz="9333" b="0" i="0" u="none" strike="noStrike" spc="-93">
                <a:solidFill>
                  <a:srgbClr val="FFFFFF"/>
                </a:solidFill>
                <a:ea typeface="MapoDPP"/>
              </a:rPr>
              <a:t>서비스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77400" y="9118600"/>
            <a:ext cx="10972800" cy="2641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구름은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클라우드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기반의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통합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교육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서비스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플랫폼</a:t>
            </a:r>
          </a:p>
          <a:p>
            <a:pPr lvl="0" algn="l">
              <a:lnSpc>
                <a:spcPct val="141100"/>
              </a:lnSpc>
            </a:pP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- ICT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광주와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협력하여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다양한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교육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과정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운영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중</a:t>
            </a:r>
          </a:p>
          <a:p>
            <a:pPr lvl="0" algn="l">
              <a:lnSpc>
                <a:spcPct val="141100"/>
              </a:lnSpc>
            </a:pP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온라인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학습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환경과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실습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환경을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동시에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제공</a:t>
            </a:r>
          </a:p>
          <a:p>
            <a:pPr lvl="0" algn="l">
              <a:lnSpc>
                <a:spcPct val="141100"/>
              </a:lnSpc>
            </a:pP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공식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웹사이트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: goorm.co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구름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(goorm)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플랫폼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D8E92A0D-2EB3-4F46-B8B5-9D183867968E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7734300"/>
            <a:ext cx="4775200" cy="4394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0210800" y="4826000"/>
            <a:ext cx="12344400" cy="7429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9600" y="10591800"/>
            <a:ext cx="7747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909300" y="5435600"/>
            <a:ext cx="10934700" cy="68580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 err="1">
                <a:solidFill>
                  <a:srgbClr val="242424"/>
                </a:solidFill>
                <a:ea typeface="Pretendard Light"/>
              </a:rPr>
              <a:t>팀명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의미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: '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많은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만들어내는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생산성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중심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'</a:t>
            </a:r>
          </a:p>
          <a:p>
            <a:pPr lvl="0" algn="just">
              <a:lnSpc>
                <a:spcPct val="141100"/>
              </a:lnSpc>
            </a:pPr>
            <a:endParaRPr lang="en-US" sz="2933" b="0" i="0" u="none" strike="noStrike" dirty="0">
              <a:solidFill>
                <a:srgbClr val="242424"/>
              </a:solidFill>
              <a:latin typeface="Pretendard Light"/>
            </a:endParaRPr>
          </a:p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생성형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AI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기술을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효율적인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제작에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중점</a:t>
            </a:r>
          </a:p>
          <a:p>
            <a:pPr lvl="0" algn="just">
              <a:lnSpc>
                <a:spcPct val="141100"/>
              </a:lnSpc>
            </a:pP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취업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교육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분야에서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실질적으로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가능한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지향</a:t>
            </a:r>
          </a:p>
          <a:p>
            <a:pPr lvl="0" algn="just">
              <a:lnSpc>
                <a:spcPct val="141100"/>
              </a:lnSpc>
            </a:pP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비전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: AI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기술을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통한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업무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생산성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혁신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선도</a:t>
            </a:r>
          </a:p>
          <a:p>
            <a:pPr lvl="0" algn="just">
              <a:lnSpc>
                <a:spcPct val="141100"/>
              </a:lnSpc>
            </a:pP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다양한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AI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도구의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통합적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활용으로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최적의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창출</a:t>
            </a:r>
          </a:p>
          <a:p>
            <a:pPr lvl="0" algn="just">
              <a:lnSpc>
                <a:spcPct val="141100"/>
              </a:lnSpc>
            </a:pP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오픈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소스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방식의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공유로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사회적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창출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6200" y="99314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6700" y="9017000"/>
            <a:ext cx="127000" cy="12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팀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다작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소개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4A7069DF-02C0-4451-B322-7AA60B73F5BB}"/>
              </a:ext>
            </a:extLst>
          </p:cNvPr>
          <p:cNvSpPr txBox="1"/>
          <p:nvPr/>
        </p:nvSpPr>
        <p:spPr>
          <a:xfrm>
            <a:off x="3149600" y="5422900"/>
            <a:ext cx="5740399" cy="18161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9600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9600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9600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9600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9600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7C61BDCE-CDC7-41B0-8522-A1CCD09EA9DF}"/>
              </a:ext>
            </a:extLst>
          </p:cNvPr>
          <p:cNvGrpSpPr/>
          <p:nvPr/>
        </p:nvGrpSpPr>
        <p:grpSpPr>
          <a:xfrm>
            <a:off x="4635499" y="5435601"/>
            <a:ext cx="3505200" cy="6629400"/>
            <a:chOff x="10591800" y="5410200"/>
            <a:chExt cx="3505200" cy="66294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800" y="5676900"/>
              <a:ext cx="3505200" cy="636270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50800" y="5410200"/>
              <a:ext cx="749300" cy="1117600"/>
            </a:xfrm>
            <a:prstGeom prst="rect">
              <a:avLst/>
            </a:prstGeom>
          </p:spPr>
        </p:pic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팀원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소개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14B466A-FDAF-4AD3-B8C6-38E9353865C6}"/>
              </a:ext>
            </a:extLst>
          </p:cNvPr>
          <p:cNvGrpSpPr/>
          <p:nvPr/>
        </p:nvGrpSpPr>
        <p:grpSpPr>
          <a:xfrm>
            <a:off x="7608544" y="4762500"/>
            <a:ext cx="6793256" cy="3810000"/>
            <a:chOff x="2283834" y="4762500"/>
            <a:chExt cx="7531100" cy="3810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83834" y="4762500"/>
              <a:ext cx="5626100" cy="38100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2829934" y="6477000"/>
              <a:ext cx="6985000" cy="1638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직업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교육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컨설턴트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역할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프로젝트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총괄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기여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AI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프롬프트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설계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29934" y="5410200"/>
              <a:ext cx="6985000" cy="546100"/>
            </a:xfrm>
            <a:prstGeom prst="rect">
              <a:avLst/>
            </a:prstGeom>
          </p:spPr>
          <p:txBody>
            <a:bodyPr rtlCol="0" anchor="b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4400" b="0" i="0" u="none" strike="noStrike" dirty="0">
                  <a:solidFill>
                    <a:srgbClr val="242424"/>
                  </a:solidFill>
                  <a:ea typeface="MapoDPP"/>
                </a:rPr>
                <a:t>박재성</a:t>
              </a:r>
              <a:endParaRPr lang="en-US" sz="4400" b="0" i="0" u="none" strike="noStrike" dirty="0">
                <a:solidFill>
                  <a:srgbClr val="242424"/>
                </a:solidFill>
                <a:latin typeface="MapoDPP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B61437A-B4F4-4DCE-890C-C17FB6662D62}"/>
              </a:ext>
            </a:extLst>
          </p:cNvPr>
          <p:cNvGrpSpPr/>
          <p:nvPr/>
        </p:nvGrpSpPr>
        <p:grpSpPr>
          <a:xfrm>
            <a:off x="12877801" y="4762500"/>
            <a:ext cx="6781797" cy="3810000"/>
            <a:chOff x="14237272" y="4762500"/>
            <a:chExt cx="7518397" cy="3810000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237272" y="4762500"/>
              <a:ext cx="5626100" cy="38100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4770669" y="6477000"/>
              <a:ext cx="6985000" cy="1638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직업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웹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개발자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역할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기술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담당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기여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en-US" sz="2933" b="0" i="0" u="none" strike="noStrike" dirty="0" err="1">
                  <a:solidFill>
                    <a:srgbClr val="242424"/>
                  </a:solidFill>
                  <a:latin typeface="Pretendard Light"/>
                </a:rPr>
                <a:t>Github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페이지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구축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770669" y="5410200"/>
              <a:ext cx="6985000" cy="546100"/>
            </a:xfrm>
            <a:prstGeom prst="rect">
              <a:avLst/>
            </a:prstGeom>
          </p:spPr>
          <p:txBody>
            <a:bodyPr rtlCol="0" anchor="b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4400" b="0" i="0" u="none" strike="noStrike" spc="-1" dirty="0">
                  <a:solidFill>
                    <a:srgbClr val="242424"/>
                  </a:solidFill>
                  <a:ea typeface="MapoDPP"/>
                </a:rPr>
                <a:t>김은성</a:t>
              </a:r>
              <a:endParaRPr lang="en-US" sz="4400" b="0" i="0" u="none" strike="noStrike" spc="-1" dirty="0">
                <a:solidFill>
                  <a:srgbClr val="242424"/>
                </a:solidFill>
                <a:latin typeface="MapoDPP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A38C2AC-FB41-4D36-BC59-BB46E353989D}"/>
              </a:ext>
            </a:extLst>
          </p:cNvPr>
          <p:cNvGrpSpPr/>
          <p:nvPr/>
        </p:nvGrpSpPr>
        <p:grpSpPr>
          <a:xfrm>
            <a:off x="12877799" y="8788400"/>
            <a:ext cx="6781799" cy="3810000"/>
            <a:chOff x="14237269" y="8788400"/>
            <a:chExt cx="7518399" cy="381000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237269" y="8788400"/>
              <a:ext cx="5626101" cy="38100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14770668" y="10515600"/>
              <a:ext cx="6985000" cy="1638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직업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교육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디자이너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역할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자료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제작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기여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교육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매뉴얼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개발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70668" y="9436100"/>
              <a:ext cx="6985000" cy="546100"/>
            </a:xfrm>
            <a:prstGeom prst="rect">
              <a:avLst/>
            </a:prstGeom>
          </p:spPr>
          <p:txBody>
            <a:bodyPr rtlCol="0" anchor="b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4400" b="0" i="0" u="none" strike="noStrike" spc="-1" dirty="0">
                  <a:solidFill>
                    <a:srgbClr val="242424"/>
                  </a:solidFill>
                  <a:ea typeface="MapoDPP"/>
                </a:rPr>
                <a:t>신효정</a:t>
              </a:r>
              <a:endParaRPr lang="en-US" sz="4400" b="0" i="0" u="none" strike="noStrike" spc="-1" dirty="0">
                <a:solidFill>
                  <a:srgbClr val="242424"/>
                </a:solidFill>
                <a:latin typeface="MapoDPP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784C98A-20E6-4F84-93FC-1FF5F8F7AE52}"/>
              </a:ext>
            </a:extLst>
          </p:cNvPr>
          <p:cNvGrpSpPr/>
          <p:nvPr/>
        </p:nvGrpSpPr>
        <p:grpSpPr>
          <a:xfrm>
            <a:off x="7608544" y="8788400"/>
            <a:ext cx="6793256" cy="3810000"/>
            <a:chOff x="2283834" y="8788400"/>
            <a:chExt cx="7531100" cy="38100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83834" y="8788400"/>
              <a:ext cx="5626100" cy="38100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2829934" y="10515600"/>
              <a:ext cx="6985000" cy="1638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직업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취업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컨설턴트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역할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콘텐츠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기획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기여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취업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자료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제작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29934" y="9436100"/>
              <a:ext cx="6985000" cy="546100"/>
            </a:xfrm>
            <a:prstGeom prst="rect">
              <a:avLst/>
            </a:prstGeom>
          </p:spPr>
          <p:txBody>
            <a:bodyPr rtlCol="0" anchor="b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4400" b="0" i="0" u="none" strike="noStrike" spc="-1" dirty="0">
                  <a:solidFill>
                    <a:srgbClr val="242424"/>
                  </a:solidFill>
                  <a:ea typeface="MapoDPP"/>
                </a:rPr>
                <a:t>임재형</a:t>
              </a:r>
              <a:endParaRPr lang="en-US" sz="4400" b="0" i="0" u="none" strike="noStrike" spc="-1" dirty="0">
                <a:solidFill>
                  <a:srgbClr val="242424"/>
                </a:solidFill>
                <a:latin typeface="MapoDPP"/>
              </a:endParaRPr>
            </a:p>
          </p:txBody>
        </p:sp>
      </p:grpSp>
      <p:sp>
        <p:nvSpPr>
          <p:cNvPr id="22" name="TextBox 4">
            <a:extLst>
              <a:ext uri="{FF2B5EF4-FFF2-40B4-BE49-F238E27FC236}">
                <a16:creationId xmlns:a16="http://schemas.microsoft.com/office/drawing/2014/main" id="{5A0E029B-499A-469F-AA95-11A103A33DF5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DCF0C90-1B23-408B-B942-554B1EF2AA4E}"/>
              </a:ext>
            </a:extLst>
          </p:cNvPr>
          <p:cNvGrpSpPr/>
          <p:nvPr/>
        </p:nvGrpSpPr>
        <p:grpSpPr>
          <a:xfrm>
            <a:off x="18135599" y="4756150"/>
            <a:ext cx="6781793" cy="3810000"/>
            <a:chOff x="13660016" y="4762500"/>
            <a:chExt cx="7518393" cy="3810000"/>
          </a:xfrm>
        </p:grpSpPr>
        <p:pic>
          <p:nvPicPr>
            <p:cNvPr id="29" name="Picture 15">
              <a:extLst>
                <a:ext uri="{FF2B5EF4-FFF2-40B4-BE49-F238E27FC236}">
                  <a16:creationId xmlns:a16="http://schemas.microsoft.com/office/drawing/2014/main" id="{AACA7769-BDA8-41E4-873C-8D8D81658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660016" y="4762500"/>
              <a:ext cx="5626101" cy="3810000"/>
            </a:xfrm>
            <a:prstGeom prst="rect">
              <a:avLst/>
            </a:prstGeom>
          </p:spPr>
        </p:pic>
        <p:sp>
          <p:nvSpPr>
            <p:cNvPr id="30" name="TextBox 16">
              <a:extLst>
                <a:ext uri="{FF2B5EF4-FFF2-40B4-BE49-F238E27FC236}">
                  <a16:creationId xmlns:a16="http://schemas.microsoft.com/office/drawing/2014/main" id="{06D23494-B66F-4C5A-991B-91BB0BEDD9F7}"/>
                </a:ext>
              </a:extLst>
            </p:cNvPr>
            <p:cNvSpPr txBox="1"/>
            <p:nvPr/>
          </p:nvSpPr>
          <p:spPr>
            <a:xfrm>
              <a:off x="14193408" y="6477000"/>
              <a:ext cx="6985001" cy="16383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직업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웹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개발자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역할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기술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담당</a:t>
              </a:r>
            </a:p>
            <a:p>
              <a:pPr lvl="0" algn="l">
                <a:lnSpc>
                  <a:spcPct val="124499"/>
                </a:lnSpc>
              </a:pP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-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기여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: </a:t>
              </a:r>
              <a:r>
                <a:rPr lang="en-US" sz="2933" b="0" i="0" u="none" strike="noStrike" dirty="0" err="1">
                  <a:solidFill>
                    <a:srgbClr val="242424"/>
                  </a:solidFill>
                  <a:latin typeface="Pretendard Light"/>
                </a:rPr>
                <a:t>Github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페이지</a:t>
              </a:r>
              <a:r>
                <a:rPr lang="en-US" sz="2933" b="0" i="0" u="none" strike="noStrike" dirty="0">
                  <a:solidFill>
                    <a:srgbClr val="242424"/>
                  </a:solidFill>
                  <a:latin typeface="Pretendard Light"/>
                </a:rPr>
                <a:t> </a:t>
              </a:r>
              <a:r>
                <a:rPr lang="ko-KR" sz="2933" b="0" i="0" u="none" strike="noStrike" dirty="0">
                  <a:solidFill>
                    <a:srgbClr val="242424"/>
                  </a:solidFill>
                  <a:ea typeface="Pretendard Light"/>
                </a:rPr>
                <a:t>구축</a:t>
              </a:r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1552AF86-9353-4B60-AF0C-8405403338F4}"/>
                </a:ext>
              </a:extLst>
            </p:cNvPr>
            <p:cNvSpPr txBox="1"/>
            <p:nvPr/>
          </p:nvSpPr>
          <p:spPr>
            <a:xfrm>
              <a:off x="14193408" y="5410200"/>
              <a:ext cx="6985001" cy="546100"/>
            </a:xfrm>
            <a:prstGeom prst="rect">
              <a:avLst/>
            </a:prstGeom>
          </p:spPr>
          <p:txBody>
            <a:bodyPr rtlCol="0" anchor="b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4400" b="0" i="0" u="none" strike="noStrike" spc="-1" dirty="0">
                  <a:solidFill>
                    <a:srgbClr val="242424"/>
                  </a:solidFill>
                  <a:ea typeface="MapoDPP"/>
                </a:rPr>
                <a:t>김은성</a:t>
              </a:r>
              <a:endParaRPr lang="en-US" sz="4400" b="0" i="0" u="none" strike="noStrike" spc="-1" dirty="0">
                <a:solidFill>
                  <a:srgbClr val="242424"/>
                </a:solidFill>
                <a:latin typeface="MapoDPP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프로젝트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방향성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(1)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2819400" y="8699500"/>
            <a:ext cx="8686800" cy="876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162300" y="8775700"/>
            <a:ext cx="8013700" cy="711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" sz="4000" b="0" i="0" u="none" strike="noStrike" spc="-160">
                <a:solidFill>
                  <a:srgbClr val="242424"/>
                </a:solidFill>
                <a:ea typeface="MapoDPP"/>
              </a:rPr>
              <a:t>목표</a:t>
            </a:r>
          </a:p>
        </p:txBody>
      </p:sp>
      <p:pic>
        <p:nvPicPr>
          <p:cNvPr id="10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0064" y="4191000"/>
            <a:ext cx="6279772" cy="3797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2755900" y="9956800"/>
            <a:ext cx="8801100" cy="24257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just">
              <a:lnSpc>
                <a:spcPct val="141100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생성형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AI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취업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·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교육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제작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 algn="just">
              <a:lnSpc>
                <a:spcPct val="141100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실무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적용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한 페이지 및 코드 제작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  </a:t>
            </a:r>
          </a:p>
          <a:p>
            <a:pPr marL="457200" lvl="0" indent="-457200" algn="just">
              <a:lnSpc>
                <a:spcPct val="141100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자동화된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문서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구축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</a:p>
          <a:p>
            <a:pPr marL="457200" lvl="0" indent="-457200" algn="just">
              <a:lnSpc>
                <a:spcPct val="141100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업무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생산성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향상을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위한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솔루션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제공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12877800" y="8699500"/>
            <a:ext cx="8686800" cy="876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220700" y="8775700"/>
            <a:ext cx="8013700" cy="711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4000" b="0" i="0" u="none" strike="noStrike" spc="-160" dirty="0">
                <a:solidFill>
                  <a:srgbClr val="242424"/>
                </a:solidFill>
                <a:ea typeface="MapoDPP"/>
              </a:rPr>
              <a:t>전략적</a:t>
            </a:r>
            <a:r>
              <a:rPr lang="en-US" sz="4000" b="0" i="0" u="none" strike="noStrike" spc="-160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spc="-160" dirty="0">
                <a:solidFill>
                  <a:srgbClr val="242424"/>
                </a:solidFill>
                <a:ea typeface="MapoDPP"/>
              </a:rPr>
              <a:t>접근</a:t>
            </a:r>
            <a:r>
              <a:rPr lang="en-US" sz="4000" b="0" i="0" u="none" strike="noStrike" spc="-160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spc="-160" dirty="0">
                <a:solidFill>
                  <a:srgbClr val="242424"/>
                </a:solidFill>
                <a:ea typeface="MapoDPP"/>
              </a:rPr>
              <a:t>방식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31800" y="4191000"/>
            <a:ext cx="8178800" cy="3797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12827000" y="9956800"/>
            <a:ext cx="8801100" cy="24257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just">
              <a:lnSpc>
                <a:spcPct val="141100"/>
              </a:lnSpc>
              <a:buFontTx/>
              <a:buChar char="-"/>
            </a:pP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팀원 개개인의 스킬 및 역량 파악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 algn="just">
              <a:lnSpc>
                <a:spcPct val="141100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단계별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프로젝트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진행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계획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수립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 algn="just">
              <a:lnSpc>
                <a:spcPct val="141100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다양한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AI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도구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방법론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개발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 algn="just">
              <a:lnSpc>
                <a:spcPct val="141100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품질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관리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피드백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시스템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7287E2B1-6BA5-4493-BB82-7CE8CF60CA6A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18D304-52A8-443E-9B7F-CA1CC5E6778E}"/>
              </a:ext>
            </a:extLst>
          </p:cNvPr>
          <p:cNvSpPr txBox="1"/>
          <p:nvPr/>
        </p:nvSpPr>
        <p:spPr>
          <a:xfrm>
            <a:off x="8839200" y="81407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:</a:t>
            </a:r>
            <a:r>
              <a:rPr lang="ko-KR" altLang="en-US" dirty="0"/>
              <a:t>나무위키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8D74DA-C97B-481D-A4F5-DC83EB57C46B}"/>
              </a:ext>
            </a:extLst>
          </p:cNvPr>
          <p:cNvSpPr txBox="1"/>
          <p:nvPr/>
        </p:nvSpPr>
        <p:spPr>
          <a:xfrm>
            <a:off x="17449800" y="81407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:https://brunch.co.kr/@hvnpoet/14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8763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213600" y="-31496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1866900"/>
            <a:ext cx="2514600" cy="251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8178800"/>
            <a:ext cx="10261600" cy="4089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63800" y="8763000"/>
            <a:ext cx="9169400" cy="23114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모든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en-US" sz="2933" b="0" i="0" u="none" strike="noStrike" dirty="0" err="1">
                <a:solidFill>
                  <a:srgbClr val="242424"/>
                </a:solidFill>
                <a:latin typeface="Pretendard Light"/>
              </a:rPr>
              <a:t>Github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페이지에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공개</a:t>
            </a:r>
          </a:p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누구나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접근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가능한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오픈소스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방식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채택</a:t>
            </a:r>
          </a:p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버전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관리를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통한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지속적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개선</a:t>
            </a:r>
          </a:p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사용자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피드백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수집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반영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구축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6800" y="4826000"/>
            <a:ext cx="10261600" cy="4089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042900" y="5410200"/>
            <a:ext cx="9169400" cy="5207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just">
              <a:lnSpc>
                <a:spcPct val="132800"/>
              </a:lnSpc>
              <a:buFontTx/>
              <a:buChar char="-"/>
            </a:pPr>
            <a:r>
              <a:rPr lang="en-US" sz="2933" b="0" i="0" u="none" strike="noStrike" dirty="0" err="1">
                <a:solidFill>
                  <a:srgbClr val="242424"/>
                </a:solidFill>
                <a:latin typeface="Pretendard Light"/>
              </a:rPr>
              <a:t>Github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통한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오픈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공유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전략</a:t>
            </a:r>
            <a:endParaRPr lang="en-US" altLang="ko-KR" sz="2933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 algn="just">
              <a:lnSpc>
                <a:spcPct val="132800"/>
              </a:lnSpc>
              <a:buFontTx/>
              <a:buChar char="-"/>
            </a:pP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팀원 결과물을 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5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개 계정에 동일화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 algn="just">
              <a:lnSpc>
                <a:spcPct val="132800"/>
              </a:lnSpc>
              <a:buFontTx/>
              <a:buChar char="-"/>
            </a:pPr>
            <a:r>
              <a:rPr lang="ko-KR" altLang="en-US" sz="2933" dirty="0">
                <a:solidFill>
                  <a:srgbClr val="242424"/>
                </a:solidFill>
                <a:ea typeface="Pretendard Light"/>
              </a:rPr>
              <a:t>팀원 페이지 링크로 품앗이</a:t>
            </a:r>
            <a:endParaRPr lang="en-US" altLang="ko-KR" sz="2933" dirty="0">
              <a:solidFill>
                <a:srgbClr val="242424"/>
              </a:solidFill>
              <a:ea typeface="Pretendard Light"/>
            </a:endParaRPr>
          </a:p>
          <a:p>
            <a:pPr lvl="0" algn="just">
              <a:lnSpc>
                <a:spcPct val="132800"/>
              </a:lnSpc>
            </a:pP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19400" y="6070600"/>
            <a:ext cx="8445500" cy="787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결과물</a:t>
            </a:r>
            <a:r>
              <a:rPr lang="en-US" sz="4399" b="0" i="0" u="none" strike="noStrike" spc="-176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공유</a:t>
            </a:r>
            <a:r>
              <a:rPr lang="en-US" sz="4399" b="0" i="0" u="none" strike="noStrike" spc="-176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및</a:t>
            </a:r>
            <a:r>
              <a:rPr lang="en-US" sz="4399" b="0" i="0" u="none" strike="noStrike" spc="-176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확산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0" y="1308100"/>
            <a:ext cx="3479800" cy="317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27700" y="1282700"/>
            <a:ext cx="774700" cy="1155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4800000">
            <a:off x="22910800" y="29972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4800000">
            <a:off x="22948900" y="2374900"/>
            <a:ext cx="330200" cy="317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4800000">
            <a:off x="18834100" y="2298700"/>
            <a:ext cx="127000" cy="127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7800" y="2476500"/>
            <a:ext cx="1295400" cy="1282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876800" y="2082800"/>
            <a:ext cx="136398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프로젝트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방향성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(2)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11200" y="9829800"/>
            <a:ext cx="8445500" cy="787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협업</a:t>
            </a:r>
            <a:r>
              <a:rPr lang="en-US" sz="4399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체계</a:t>
            </a:r>
            <a:r>
              <a:rPr lang="en-US" sz="4399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구축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활용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AI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도구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813300"/>
            <a:ext cx="4216400" cy="7315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5130800"/>
            <a:ext cx="952500" cy="952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52600" y="6642100"/>
            <a:ext cx="3403600" cy="5461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24499"/>
              </a:lnSpc>
            </a:pPr>
            <a:r>
              <a:rPr lang="en" sz="3066" b="0" i="0" u="none" strike="noStrike" spc="-92">
                <a:solidFill>
                  <a:srgbClr val="242424"/>
                </a:solidFill>
                <a:latin typeface="MapoDPP"/>
              </a:rPr>
              <a:t>ChatGPT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21400" y="4813300"/>
            <a:ext cx="4216400" cy="7315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227800" y="6642100"/>
            <a:ext cx="3403600" cy="5461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24499"/>
              </a:lnSpc>
            </a:pPr>
            <a:r>
              <a:rPr lang="ko-KR" sz="3066" b="0" i="0" u="none" strike="noStrike" spc="-92" dirty="0">
                <a:solidFill>
                  <a:srgbClr val="242424"/>
                </a:solidFill>
                <a:ea typeface="MapoDPP"/>
              </a:rPr>
              <a:t>기타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4813300"/>
            <a:ext cx="4216400" cy="73152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248400" y="7645400"/>
            <a:ext cx="3962400" cy="3314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코드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자동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완성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개발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생산성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en-US" sz="2933" b="0" i="0" u="none" strike="noStrike" dirty="0" err="1">
                <a:solidFill>
                  <a:srgbClr val="242424"/>
                </a:solidFill>
                <a:latin typeface="Pretendard Light"/>
              </a:rPr>
              <a:t>Github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연동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문서화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지원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버그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수정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코드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설명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21400" y="6642100"/>
            <a:ext cx="3403600" cy="5461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24499"/>
              </a:lnSpc>
            </a:pPr>
            <a:r>
              <a:rPr lang="en" sz="3066" spc="-92" dirty="0">
                <a:solidFill>
                  <a:srgbClr val="242424"/>
                </a:solidFill>
                <a:latin typeface="MapoDPP"/>
              </a:rPr>
              <a:t>VS</a:t>
            </a:r>
            <a:endParaRPr lang="en" sz="3066" b="0" i="0" u="none" strike="noStrike" spc="-92" dirty="0">
              <a:solidFill>
                <a:srgbClr val="242424"/>
              </a:solidFill>
              <a:latin typeface="MapoDPP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3800" y="4838700"/>
            <a:ext cx="4216400" cy="73152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0490200" y="6667500"/>
            <a:ext cx="3403600" cy="5461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24499"/>
              </a:lnSpc>
            </a:pPr>
            <a:r>
              <a:rPr lang="ko-KR" altLang="en-US" sz="3066" b="1" spc="-92" dirty="0" err="1">
                <a:solidFill>
                  <a:srgbClr val="242424"/>
                </a:solidFill>
                <a:latin typeface="MapoDPP"/>
              </a:rPr>
              <a:t>미리캔버스</a:t>
            </a:r>
            <a:endParaRPr lang="en" sz="3066" b="1" i="0" u="none" strike="noStrike" spc="-92" dirty="0">
              <a:solidFill>
                <a:srgbClr val="242424"/>
              </a:solidFill>
              <a:latin typeface="MapoDPP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52600" y="4838700"/>
            <a:ext cx="4216400" cy="73152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4859000" y="6667500"/>
            <a:ext cx="3403600" cy="5461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24499"/>
              </a:lnSpc>
            </a:pPr>
            <a:r>
              <a:rPr lang="en" sz="3066" b="0" i="0" u="none" strike="noStrike" spc="-92" dirty="0">
                <a:solidFill>
                  <a:srgbClr val="242424"/>
                </a:solidFill>
                <a:latin typeface="MapoDPP"/>
              </a:rPr>
              <a:t>Discord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0600" y="5130800"/>
            <a:ext cx="952500" cy="952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90900" y="5130800"/>
            <a:ext cx="952500" cy="952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722100" y="5130800"/>
            <a:ext cx="952500" cy="952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459700" y="5130800"/>
            <a:ext cx="952500" cy="9525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752600" y="7645400"/>
            <a:ext cx="3962400" cy="33147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>
              <a:lnSpc>
                <a:spcPct val="124499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프롬프트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설계</a:t>
            </a:r>
            <a:endParaRPr lang="en-US" altLang="ko-KR" sz="2933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>
              <a:lnSpc>
                <a:spcPct val="124499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콘텐츠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생성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>
              <a:lnSpc>
                <a:spcPct val="124499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문서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초안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작성</a:t>
            </a:r>
            <a:endParaRPr lang="en-US" altLang="ko-KR" sz="2933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>
              <a:lnSpc>
                <a:spcPct val="124499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아이디어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발굴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>
              <a:lnSpc>
                <a:spcPct val="124499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텍스트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교정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>
              <a:lnSpc>
                <a:spcPct val="124499"/>
              </a:lnSpc>
              <a:buFontTx/>
              <a:buChar char="-"/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다국어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번역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marL="457200" lvl="0" indent="-457200">
              <a:lnSpc>
                <a:spcPct val="124499"/>
              </a:lnSpc>
              <a:buFontTx/>
              <a:buChar char="-"/>
            </a:pPr>
            <a:r>
              <a:rPr lang="ko-KR" altLang="en-US" sz="2933" dirty="0">
                <a:solidFill>
                  <a:srgbClr val="242424"/>
                </a:solidFill>
                <a:ea typeface="Pretendard Light"/>
              </a:rPr>
              <a:t>코드 구현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515600" y="7645400"/>
            <a:ext cx="3962400" cy="3314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시각화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자료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 err="1">
                <a:solidFill>
                  <a:srgbClr val="242424"/>
                </a:solidFill>
                <a:ea typeface="Pretendard Light"/>
              </a:rPr>
              <a:t>인포그래픽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이력서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템플릿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프레젠테이션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포스터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제작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교육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859000" y="7645400"/>
            <a:ext cx="3962400" cy="3314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문서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요약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아이디어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정리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협업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문서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일정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관리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자동화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기능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latin typeface="Pretendard Light"/>
              </a:rPr>
              <a:t>협업 및 업무공유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 </a:t>
            </a:r>
          </a:p>
          <a:p>
            <a:pPr lvl="0">
              <a:lnSpc>
                <a:spcPct val="124499"/>
              </a:lnSpc>
            </a:pP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202400" y="7645400"/>
            <a:ext cx="3962400" cy="3314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4499"/>
              </a:lnSpc>
            </a:pPr>
            <a:r>
              <a:rPr lang="en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en-US" sz="2933" dirty="0">
                <a:solidFill>
                  <a:srgbClr val="242424"/>
                </a:solidFill>
                <a:latin typeface="Pretendard Light"/>
              </a:rPr>
              <a:t>Python</a:t>
            </a:r>
            <a:endParaRPr lang="en" sz="2933" b="0" i="0" u="none" strike="noStrike" dirty="0">
              <a:solidFill>
                <a:srgbClr val="242424"/>
              </a:solidFill>
              <a:latin typeface="Pretendard Light"/>
            </a:endParaRPr>
          </a:p>
          <a:p>
            <a:pPr lvl="0">
              <a:lnSpc>
                <a:spcPct val="124499"/>
              </a:lnSpc>
            </a:pPr>
            <a:r>
              <a:rPr lang="en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H</a:t>
            </a:r>
            <a:r>
              <a:rPr lang="en" sz="2933" b="0" i="0" u="none" strike="noStrike" dirty="0">
                <a:solidFill>
                  <a:srgbClr val="242424"/>
                </a:solidFill>
                <a:latin typeface="Pretendard Light"/>
              </a:rPr>
              <a:t>tml / css</a:t>
            </a:r>
          </a:p>
          <a:p>
            <a:pPr lvl="0">
              <a:lnSpc>
                <a:spcPct val="124499"/>
              </a:lnSpc>
            </a:pPr>
            <a:r>
              <a:rPr lang="en" sz="2933" b="0" i="0" u="none" strike="noStrike" dirty="0">
                <a:solidFill>
                  <a:srgbClr val="242424"/>
                </a:solidFill>
                <a:latin typeface="Pretendard Light"/>
              </a:rPr>
              <a:t>- three.js</a:t>
            </a:r>
          </a:p>
          <a:p>
            <a:pPr lvl="0">
              <a:lnSpc>
                <a:spcPct val="124499"/>
              </a:lnSpc>
            </a:pPr>
            <a:r>
              <a:rPr lang="en" sz="2933" b="0" i="0" u="none" strike="noStrike" dirty="0">
                <a:solidFill>
                  <a:srgbClr val="242424"/>
                </a:solidFill>
                <a:latin typeface="Pretendard Light"/>
              </a:rPr>
              <a:t>- Pyscript</a:t>
            </a:r>
          </a:p>
          <a:p>
            <a:pPr lvl="0">
              <a:lnSpc>
                <a:spcPct val="124499"/>
              </a:lnSpc>
            </a:pPr>
            <a:r>
              <a:rPr lang="en" sz="2933" b="0" i="0" u="none" strike="noStrike" dirty="0">
                <a:solidFill>
                  <a:srgbClr val="242424"/>
                </a:solidFill>
                <a:latin typeface="Pretendard Light"/>
              </a:rPr>
              <a:t>- Github</a:t>
            </a:r>
          </a:p>
          <a:p>
            <a:pPr lvl="0">
              <a:lnSpc>
                <a:spcPct val="124499"/>
              </a:lnSpc>
            </a:pPr>
            <a:r>
              <a:rPr lang="en" sz="2933" b="0" i="0" u="none" strike="noStrike" dirty="0">
                <a:solidFill>
                  <a:srgbClr val="242424"/>
                </a:solidFill>
                <a:latin typeface="Pretendard Light"/>
              </a:rPr>
              <a:t>- zoom</a:t>
            </a:r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AC79B30A-490E-46CD-A91C-65AA525E32CA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597400"/>
            <a:ext cx="18796000" cy="2438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95700" y="4965700"/>
            <a:ext cx="4546600" cy="1130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sz="3066" b="0" i="0" u="none" strike="noStrike" spc="-123" dirty="0" err="1">
                <a:solidFill>
                  <a:srgbClr val="242424"/>
                </a:solidFill>
                <a:latin typeface="MapoDPP"/>
              </a:rPr>
              <a:t>Github</a:t>
            </a:r>
            <a:r>
              <a:rPr lang="en-US" sz="3066" b="0" i="0" u="none" strike="noStrike" spc="-123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 dirty="0">
                <a:solidFill>
                  <a:srgbClr val="242424"/>
                </a:solidFill>
                <a:ea typeface="MapoDPP"/>
              </a:rPr>
              <a:t>결과페이지</a:t>
            </a:r>
            <a:endParaRPr lang="en-US" sz="3066" b="0" i="0" u="none" strike="noStrike" spc="-123" dirty="0">
              <a:solidFill>
                <a:srgbClr val="242424"/>
              </a:solidFill>
              <a:latin typeface="MapoDPP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45500" y="5003800"/>
            <a:ext cx="12293600" cy="16383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다작의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모든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정리된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공간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web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 </a:t>
            </a:r>
            <a:r>
              <a:rPr lang="en-US" altLang="ko-KR" sz="2933" dirty="0">
                <a:solidFill>
                  <a:srgbClr val="242424"/>
                </a:solidFill>
                <a:latin typeface="Pretendard Light"/>
                <a:ea typeface="Pretendard Light"/>
              </a:rPr>
              <a:t>|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 </a:t>
            </a:r>
            <a:r>
              <a:rPr lang="en-US" altLang="ko-KR" sz="2933" dirty="0">
                <a:solidFill>
                  <a:srgbClr val="242424"/>
                </a:solidFill>
                <a:latin typeface="Pretendard Light"/>
                <a:ea typeface="Pretendard Light"/>
              </a:rPr>
              <a:t>python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 결과물</a:t>
            </a:r>
            <a:endParaRPr lang="en-US" altLang="ko-KR" sz="2933" dirty="0">
              <a:solidFill>
                <a:srgbClr val="242424"/>
              </a:solidFill>
              <a:latin typeface="Pretendard Light"/>
              <a:ea typeface="Pretendard Light"/>
            </a:endParaRP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지속적인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업데이트와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버전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관리가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이루어지는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플랫폼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0" y="7353300"/>
            <a:ext cx="18796000" cy="2438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10109200"/>
            <a:ext cx="18796000" cy="2438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프로젝트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결과물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95700" y="7721600"/>
            <a:ext cx="45466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페이지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구성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및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특징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45500" y="7759700"/>
            <a:ext cx="12293600" cy="16383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사용자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친화적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인터페이스로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쉬운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탐색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가능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카테고리별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구분으로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원하는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빠르게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접근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각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 err="1">
                <a:solidFill>
                  <a:srgbClr val="242424"/>
                </a:solidFill>
                <a:ea typeface="Pretendard Light"/>
              </a:rPr>
              <a:t>자료별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요약 및 탄생 배경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695700" y="10477500"/>
            <a:ext cx="45466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접근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방법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45500" y="10515600"/>
            <a:ext cx="12293600" cy="16383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모든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브라우저에서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접속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가능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로그인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없이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자유롭게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다운로드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가능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854EB6EA-A043-41F0-8AA4-F3D1B23E54EA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주요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결과물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분류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7200" y="4813300"/>
            <a:ext cx="4787900" cy="7315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900" y="5270500"/>
            <a:ext cx="952500" cy="952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413000" y="6794500"/>
            <a:ext cx="3403600" cy="5461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24499"/>
              </a:lnSpc>
            </a:pPr>
            <a:r>
              <a:rPr lang="ko-KR" sz="3066" b="0" i="0" u="none" strike="noStrike" spc="-92">
                <a:solidFill>
                  <a:srgbClr val="242424"/>
                </a:solidFill>
                <a:ea typeface="MapoDPP"/>
              </a:rPr>
              <a:t>취업</a:t>
            </a:r>
            <a:r>
              <a:rPr lang="en-US" sz="3066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92">
                <a:solidFill>
                  <a:srgbClr val="242424"/>
                </a:solidFill>
                <a:ea typeface="MapoDPP"/>
              </a:rPr>
              <a:t>자료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62200" y="7785100"/>
            <a:ext cx="3962400" cy="3314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포트폴리오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생산성 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AI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트랜드에 따른 활용</a:t>
            </a:r>
            <a:br>
              <a:rPr lang="en-US" altLang="ko-KR" sz="2933" dirty="0">
                <a:solidFill>
                  <a:srgbClr val="242424"/>
                </a:solidFill>
                <a:latin typeface="Pretendard Light"/>
                <a:ea typeface="Pretendard Light"/>
              </a:rPr>
            </a:b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68900" y="4813300"/>
            <a:ext cx="4787900" cy="7315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8567400" y="6794500"/>
            <a:ext cx="3403600" cy="5461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24499"/>
              </a:lnSpc>
            </a:pPr>
            <a:r>
              <a:rPr lang="ko-KR" sz="3066" b="0" i="0" u="none" strike="noStrike" spc="-92">
                <a:solidFill>
                  <a:srgbClr val="242424"/>
                </a:solidFill>
                <a:ea typeface="MapoDPP"/>
              </a:rPr>
              <a:t>생산성</a:t>
            </a:r>
            <a:r>
              <a:rPr lang="en-US" sz="3066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92">
                <a:solidFill>
                  <a:srgbClr val="242424"/>
                </a:solidFill>
                <a:ea typeface="MapoDPP"/>
              </a:rPr>
              <a:t>도구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516600" y="7785100"/>
            <a:ext cx="3962400" cy="3314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latin typeface="Pretendard Light"/>
              </a:rPr>
              <a:t>다중 번역기</a:t>
            </a:r>
            <a:b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시상 </a:t>
            </a:r>
            <a:r>
              <a:rPr lang="ko-KR" altLang="en-US" sz="2933" b="0" i="0" u="none" strike="noStrike" dirty="0" err="1">
                <a:solidFill>
                  <a:srgbClr val="242424"/>
                </a:solidFill>
                <a:ea typeface="Pretendard Light"/>
              </a:rPr>
              <a:t>창출기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Ai </a:t>
            </a:r>
            <a:r>
              <a:rPr lang="ko-KR" altLang="en-US" sz="2933" b="0" i="0" u="none" strike="noStrike" dirty="0">
                <a:solidFill>
                  <a:srgbClr val="242424"/>
                </a:solidFill>
                <a:latin typeface="Pretendard Light"/>
              </a:rPr>
              <a:t>탐색기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latin typeface="Pretendard Light"/>
              </a:rPr>
              <a:t>뮤직플레이어</a:t>
            </a:r>
            <a:b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점심 </a:t>
            </a:r>
            <a:r>
              <a:rPr lang="ko-KR" altLang="en-US" sz="2933" b="0" i="0" u="none" strike="noStrike" dirty="0" err="1">
                <a:solidFill>
                  <a:srgbClr val="242424"/>
                </a:solidFill>
                <a:ea typeface="Pretendard Light"/>
              </a:rPr>
              <a:t>선택기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 err="1">
                <a:solidFill>
                  <a:srgbClr val="242424"/>
                </a:solidFill>
                <a:ea typeface="Pretendard Light"/>
              </a:rPr>
              <a:t>그림판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4100" y="4826000"/>
            <a:ext cx="4787900" cy="7315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182600" y="6807200"/>
            <a:ext cx="3403600" cy="5461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24499"/>
              </a:lnSpc>
            </a:pPr>
            <a:r>
              <a:rPr lang="ko-KR" altLang="en-US" sz="3066" b="0" i="0" u="none" strike="noStrike" spc="-92" dirty="0" err="1">
                <a:solidFill>
                  <a:srgbClr val="242424"/>
                </a:solidFill>
                <a:ea typeface="MapoDPP"/>
              </a:rPr>
              <a:t>교보재</a:t>
            </a:r>
            <a:endParaRPr lang="ko-KR" sz="3066" b="0" i="0" u="none" strike="noStrike" spc="-92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131800" y="7810500"/>
            <a:ext cx="3962400" cy="3314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PDF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데이터 </a:t>
            </a:r>
            <a:r>
              <a:rPr lang="ko-KR" altLang="en-US" sz="2933" dirty="0">
                <a:solidFill>
                  <a:srgbClr val="242424"/>
                </a:solidFill>
                <a:ea typeface="Pretendard Light"/>
              </a:rPr>
              <a:t>추출</a:t>
            </a:r>
            <a:br>
              <a:rPr lang="en-US" altLang="ko-KR" sz="2933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기능사 실기 시험 </a:t>
            </a:r>
            <a:r>
              <a:rPr lang="ko-KR" altLang="en-US" sz="2933" b="0" i="0" u="none" strike="noStrike" dirty="0" err="1">
                <a:solidFill>
                  <a:srgbClr val="242424"/>
                </a:solidFill>
                <a:ea typeface="Pretendard Light"/>
              </a:rPr>
              <a:t>시뮬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게임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각종 </a:t>
            </a:r>
            <a:r>
              <a:rPr lang="ko-KR" altLang="en-US" sz="2933" dirty="0">
                <a:solidFill>
                  <a:srgbClr val="242424"/>
                </a:solidFill>
                <a:ea typeface="Pretendard Light"/>
              </a:rPr>
              <a:t>기구</a:t>
            </a:r>
            <a:r>
              <a:rPr lang="en-US" altLang="ko-KR" sz="2933" dirty="0">
                <a:solidFill>
                  <a:srgbClr val="242424"/>
                </a:solidFill>
                <a:ea typeface="Pretendard Light"/>
              </a:rPr>
              <a:t>, </a:t>
            </a:r>
            <a:r>
              <a:rPr lang="ko-KR" altLang="en-US" sz="2933" dirty="0">
                <a:solidFill>
                  <a:srgbClr val="242424"/>
                </a:solidFill>
                <a:ea typeface="Pretendard Light"/>
              </a:rPr>
              <a:t>법칙 </a:t>
            </a:r>
            <a:r>
              <a:rPr lang="ko-KR" altLang="en-US" sz="2933" dirty="0" err="1">
                <a:solidFill>
                  <a:srgbClr val="242424"/>
                </a:solidFill>
                <a:ea typeface="Pretendard Light"/>
              </a:rPr>
              <a:t>시뮬</a:t>
            </a:r>
            <a:br>
              <a:rPr lang="en-US" altLang="ko-KR" sz="2933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서식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템플릿</a:t>
            </a:r>
          </a:p>
          <a:p>
            <a:pPr lvl="0">
              <a:lnSpc>
                <a:spcPct val="124499"/>
              </a:lnSpc>
            </a:pP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 </a:t>
            </a:r>
            <a:r>
              <a:rPr lang="ko-KR" altLang="en-US" sz="2933" dirty="0" err="1">
                <a:solidFill>
                  <a:srgbClr val="242424"/>
                </a:solidFill>
                <a:latin typeface="Pretendard Light"/>
                <a:ea typeface="Pretendard Light"/>
              </a:rPr>
              <a:t>멀티뷰</a:t>
            </a:r>
            <a:br>
              <a:rPr lang="en-US" altLang="ko-KR" sz="2933" dirty="0">
                <a:solidFill>
                  <a:srgbClr val="242424"/>
                </a:solidFill>
                <a:latin typeface="Pretendard Light"/>
                <a:ea typeface="Pretendard Light"/>
              </a:rPr>
            </a:br>
            <a:r>
              <a:rPr lang="en-US" altLang="ko-KR" sz="2933" dirty="0">
                <a:solidFill>
                  <a:srgbClr val="242424"/>
                </a:solidFill>
                <a:latin typeface="Pretendard Light"/>
                <a:ea typeface="Pretendard Light"/>
              </a:rPr>
              <a:t>- 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저학년 산수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2000" y="4826000"/>
            <a:ext cx="4787900" cy="73152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797800" y="6807200"/>
            <a:ext cx="3403600" cy="5461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24499"/>
              </a:lnSpc>
            </a:pPr>
            <a:r>
              <a:rPr lang="ko-KR" sz="3066" b="0" i="0" u="none" strike="noStrike" spc="-92">
                <a:solidFill>
                  <a:srgbClr val="242424"/>
                </a:solidFill>
                <a:ea typeface="MapoDPP"/>
              </a:rPr>
              <a:t>교육</a:t>
            </a:r>
            <a:r>
              <a:rPr lang="en-US" sz="3066" b="0" i="0" u="none" strike="noStrike" spc="-92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92">
                <a:solidFill>
                  <a:srgbClr val="242424"/>
                </a:solidFill>
                <a:ea typeface="MapoDPP"/>
              </a:rPr>
              <a:t>매뉴얼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47000" y="7810500"/>
            <a:ext cx="3962400" cy="3314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AI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교육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가이드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프롬프트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작성법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 err="1">
                <a:solidFill>
                  <a:srgbClr val="242424"/>
                </a:solidFill>
                <a:ea typeface="Pretendard Light"/>
              </a:rPr>
              <a:t>도구별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매뉴얼</a:t>
            </a:r>
          </a:p>
          <a:p>
            <a:pPr lvl="0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실습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워크시트</a:t>
            </a:r>
          </a:p>
          <a:p>
            <a:pPr lvl="0">
              <a:lnSpc>
                <a:spcPct val="124499"/>
              </a:lnSpc>
            </a:pPr>
            <a:r>
              <a:rPr lang="en-US" altLang="ko-KR" sz="2933" dirty="0">
                <a:solidFill>
                  <a:srgbClr val="242424"/>
                </a:solidFill>
                <a:latin typeface="Pretendard Light"/>
                <a:ea typeface="Pretendard Light"/>
              </a:rPr>
              <a:t>- 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제작물 과정 기록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9700" y="5270500"/>
            <a:ext cx="952500" cy="952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786600" y="5270500"/>
            <a:ext cx="952500" cy="952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01800" y="5270500"/>
            <a:ext cx="952500" cy="952500"/>
          </a:xfrm>
          <a:prstGeom prst="rect">
            <a:avLst/>
          </a:prstGeom>
        </p:spPr>
      </p:pic>
      <p:sp>
        <p:nvSpPr>
          <p:cNvPr id="24" name="TextBox 4">
            <a:extLst>
              <a:ext uri="{FF2B5EF4-FFF2-40B4-BE49-F238E27FC236}">
                <a16:creationId xmlns:a16="http://schemas.microsoft.com/office/drawing/2014/main" id="{1963F2BB-CD3F-49D5-ABE3-29A9C080C408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800" y="5676900"/>
            <a:ext cx="3505200" cy="636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4762500"/>
            <a:ext cx="7950200" cy="3810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8788400"/>
            <a:ext cx="7950200" cy="3810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0700" y="8788400"/>
            <a:ext cx="7950200" cy="3810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0800" y="5410200"/>
            <a:ext cx="749300" cy="1117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프로젝트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성과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분석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89200" y="6477000"/>
            <a:ext cx="6985000" cy="1638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- 20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개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+@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 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/ 40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일 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(</a:t>
            </a:r>
            <a:r>
              <a:rPr lang="ko-KR" altLang="en-US" sz="2933" dirty="0">
                <a:solidFill>
                  <a:srgbClr val="242424"/>
                </a:solidFill>
                <a:ea typeface="Pretendard Light"/>
              </a:rPr>
              <a:t>총 훈련일수</a:t>
            </a:r>
            <a:r>
              <a:rPr lang="en-US" altLang="ko-KR" sz="2933" dirty="0">
                <a:solidFill>
                  <a:srgbClr val="242424"/>
                </a:solidFill>
                <a:ea typeface="Pretendard Light"/>
              </a:rPr>
              <a:t>)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489200" y="5791200"/>
            <a:ext cx="6985000" cy="5461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sz="3066" b="0" i="0" u="none" strike="noStrike">
                <a:solidFill>
                  <a:srgbClr val="242424"/>
                </a:solidFill>
                <a:ea typeface="MapoDPP"/>
              </a:rPr>
              <a:t>제작된</a:t>
            </a:r>
            <a:r>
              <a:rPr lang="en-US" sz="3066" b="0" i="0" u="none" strike="noStrike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>
                <a:solidFill>
                  <a:srgbClr val="242424"/>
                </a:solidFill>
                <a:ea typeface="MapoDPP"/>
              </a:rPr>
              <a:t>자료</a:t>
            </a:r>
            <a:r>
              <a:rPr lang="en-US" sz="3066" b="0" i="0" u="none" strike="noStrike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>
                <a:solidFill>
                  <a:srgbClr val="242424"/>
                </a:solidFill>
                <a:ea typeface="MapoDPP"/>
              </a:rPr>
              <a:t>수량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0700" y="4762500"/>
            <a:ext cx="7950200" cy="3810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5024100" y="6477000"/>
            <a:ext cx="6985000" cy="1638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코딩 문법 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1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도 모르는 상태에서 구현까지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l">
              <a:lnSpc>
                <a:spcPct val="124499"/>
              </a:lnSpc>
            </a:pP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전문성보단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,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다방면 역량 증가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latin typeface="Pretendard Light"/>
              </a:rPr>
              <a:t>개개인 제작물 배포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024100" y="5791200"/>
            <a:ext cx="6985000" cy="5461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altLang="en-US" sz="3066" b="0" i="0" u="none" strike="noStrike" spc="-1" dirty="0">
                <a:solidFill>
                  <a:srgbClr val="242424"/>
                </a:solidFill>
                <a:ea typeface="MapoDPP"/>
              </a:rPr>
              <a:t>팀원 역량</a:t>
            </a:r>
            <a:endParaRPr lang="ko-KR" sz="3066" b="0" i="0" u="none" strike="noStrike" spc="-1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024100" y="10515600"/>
            <a:ext cx="6985000" cy="1638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말로 설명하는 자료보다 시각화</a:t>
            </a:r>
            <a:r>
              <a:rPr lang="ko-KR" altLang="en-US" sz="2933" dirty="0">
                <a:solidFill>
                  <a:srgbClr val="242424"/>
                </a:solidFill>
                <a:ea typeface="Pretendard Light"/>
              </a:rPr>
              <a:t>로 빠른 진행</a:t>
            </a:r>
            <a:br>
              <a:rPr lang="en-US" altLang="ko-KR" sz="2933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온라인 학습으로 접근성 증가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반복 사용 및 학습으로 기억력 증가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024100" y="9817100"/>
            <a:ext cx="6985000" cy="5461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sz="3066" b="0" i="0" u="none" strike="noStrike" spc="-1" dirty="0">
                <a:solidFill>
                  <a:srgbClr val="242424"/>
                </a:solidFill>
                <a:ea typeface="MapoDPP"/>
              </a:rPr>
              <a:t>효율성</a:t>
            </a:r>
            <a:r>
              <a:rPr lang="en-US" sz="3066" b="0" i="0" u="none" strike="noStrike" spc="-1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" dirty="0">
                <a:solidFill>
                  <a:srgbClr val="242424"/>
                </a:solidFill>
                <a:ea typeface="MapoDPP"/>
              </a:rPr>
              <a:t>향상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89200" y="10515600"/>
            <a:ext cx="6985000" cy="1638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</a:rPr>
              <a:t>다양한 아이디어 및 소통으로 흥미유발</a:t>
            </a:r>
            <a:br>
              <a:rPr lang="en-US" altLang="ko-KR" sz="2933" dirty="0">
                <a:solidFill>
                  <a:srgbClr val="242424"/>
                </a:solidFill>
                <a:latin typeface="Pretendard Light"/>
              </a:rPr>
            </a:b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구현으로 상상력 대폭 증가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피드백을 통한 전문성 증가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489200" y="9817100"/>
            <a:ext cx="6985000" cy="5461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altLang="en-US" sz="3066" spc="-1" dirty="0">
                <a:solidFill>
                  <a:srgbClr val="242424"/>
                </a:solidFill>
                <a:ea typeface="MapoDPP"/>
              </a:rPr>
              <a:t>제작물 만족도</a:t>
            </a:r>
            <a:endParaRPr lang="ko-KR" sz="3066" b="0" i="0" u="none" strike="noStrike" spc="-1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97ADF31-7DCA-456E-8FD5-AA5FB5EE0D97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597400"/>
            <a:ext cx="18796000" cy="2438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95700" y="4965700"/>
            <a:ext cx="45466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sz="3066" b="1" i="0" u="none" strike="noStrike" spc="-123" dirty="0" err="1">
                <a:solidFill>
                  <a:srgbClr val="242424"/>
                </a:solidFill>
                <a:latin typeface="MapoDPP"/>
              </a:rPr>
              <a:t>Github</a:t>
            </a:r>
            <a:r>
              <a:rPr lang="ko-KR" altLang="en-US" sz="3066" b="1" spc="-123" dirty="0">
                <a:solidFill>
                  <a:srgbClr val="242424"/>
                </a:solidFill>
                <a:latin typeface="MapoDPP"/>
              </a:rPr>
              <a:t>로</a:t>
            </a:r>
            <a:endParaRPr lang="en-US" sz="3066" b="1" i="0" u="none" strike="noStrike" spc="-123" dirty="0">
              <a:solidFill>
                <a:srgbClr val="242424"/>
              </a:solidFill>
              <a:latin typeface="MapoDPP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3066" b="0" i="0" u="none" strike="noStrike" spc="-123" dirty="0">
                <a:solidFill>
                  <a:srgbClr val="242424"/>
                </a:solidFill>
                <a:ea typeface="MapoDPP"/>
              </a:rPr>
              <a:t>결과물  구현과 공유</a:t>
            </a:r>
            <a:endParaRPr lang="ko-KR" sz="3066" b="0" i="0" u="none" strike="noStrike" spc="-123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45500" y="5003800"/>
            <a:ext cx="12293600" cy="16383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코드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결과물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버전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관리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팀원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간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작업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내역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공유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병합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Github Pages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로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결과물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웹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호스팅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2100" y="7315200"/>
            <a:ext cx="18796000" cy="2438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10109200"/>
            <a:ext cx="18796000" cy="2438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팀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협업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도구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활용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95700" y="7721600"/>
            <a:ext cx="45466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sz="3066" b="1" i="0" u="none" strike="noStrike" spc="-123" dirty="0">
                <a:solidFill>
                  <a:srgbClr val="242424"/>
                </a:solidFill>
                <a:latin typeface="MapoDPP"/>
              </a:rPr>
              <a:t>Discord</a:t>
            </a:r>
            <a:r>
              <a:rPr lang="ko-KR" altLang="en-US" sz="3066" b="1" i="0" u="none" strike="noStrike" spc="-123" dirty="0">
                <a:solidFill>
                  <a:srgbClr val="242424"/>
                </a:solidFill>
                <a:latin typeface="MapoDPP"/>
              </a:rPr>
              <a:t>로 </a:t>
            </a:r>
            <a:endParaRPr lang="en-US" altLang="ko-KR" sz="3066" b="1" i="0" u="none" strike="noStrike" spc="-123" dirty="0">
              <a:solidFill>
                <a:srgbClr val="242424"/>
              </a:solidFill>
              <a:latin typeface="MapoDPP"/>
            </a:endParaRPr>
          </a:p>
          <a:p>
            <a:pPr lvl="0">
              <a:lnSpc>
                <a:spcPct val="124499"/>
              </a:lnSpc>
            </a:pPr>
            <a:r>
              <a:rPr lang="ko-KR" altLang="en-US" sz="3066" b="1" spc="-123" dirty="0">
                <a:solidFill>
                  <a:srgbClr val="242424"/>
                </a:solidFill>
                <a:latin typeface="MapoDPP"/>
              </a:rPr>
              <a:t>커뮤니케이션</a:t>
            </a:r>
            <a:endParaRPr lang="ko-KR" sz="3066" b="1" i="0" u="none" strike="noStrike" spc="-123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445500" y="7759700"/>
            <a:ext cx="12293600" cy="16383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문서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작성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공동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편집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기능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데이터베이스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기능으로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체계화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AI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기능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연동으로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문서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자동화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95700" y="10477500"/>
            <a:ext cx="4546600" cy="1130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altLang="ko-KR" sz="3066" spc="-123" dirty="0">
                <a:solidFill>
                  <a:srgbClr val="242424"/>
                </a:solidFill>
                <a:latin typeface="MapoDPP"/>
                <a:ea typeface="MapoDPP"/>
              </a:rPr>
              <a:t>Off-line</a:t>
            </a:r>
            <a:r>
              <a:rPr lang="ko-KR" altLang="en-US" sz="3066" spc="-123" dirty="0">
                <a:solidFill>
                  <a:srgbClr val="242424"/>
                </a:solidFill>
                <a:latin typeface="MapoDPP"/>
                <a:ea typeface="MapoDPP"/>
              </a:rPr>
              <a:t>으로</a:t>
            </a:r>
            <a:endParaRPr lang="en-US" altLang="ko-KR" sz="3066" spc="-123" dirty="0">
              <a:solidFill>
                <a:srgbClr val="242424"/>
              </a:solidFill>
              <a:latin typeface="MapoDPP"/>
              <a:ea typeface="MapoDPP"/>
            </a:endParaRPr>
          </a:p>
          <a:p>
            <a:pPr lvl="0" algn="l">
              <a:lnSpc>
                <a:spcPct val="124499"/>
              </a:lnSpc>
            </a:pPr>
            <a:r>
              <a:rPr lang="ko-KR" altLang="en-US" sz="3066" b="0" i="0" u="none" strike="noStrike" spc="-123" dirty="0">
                <a:solidFill>
                  <a:srgbClr val="242424"/>
                </a:solidFill>
                <a:latin typeface="MapoDPP"/>
                <a:ea typeface="MapoDPP"/>
              </a:rPr>
              <a:t>유대감 및 정서적 공유</a:t>
            </a:r>
            <a:endParaRPr lang="ko-KR" sz="3066" b="0" i="0" u="none" strike="noStrike" spc="-123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445500" y="10515600"/>
            <a:ext cx="12293600" cy="16383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24499"/>
              </a:lnSpc>
            </a:pP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주말 미팅으로 팀원 스케쥴 및 정서적 교류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>
              <a:lnSpc>
                <a:spcPct val="124499"/>
              </a:lnSpc>
            </a:pP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latin typeface="Pretendard Light"/>
              </a:rPr>
              <a:t>주제 선정 및 아이디어 공유</a:t>
            </a:r>
            <a:b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‘</a:t>
            </a:r>
            <a:r>
              <a:rPr lang="ko-KR" altLang="en-US" sz="2933" dirty="0" err="1">
                <a:solidFill>
                  <a:srgbClr val="242424"/>
                </a:solidFill>
                <a:latin typeface="Pretendard Light"/>
                <a:ea typeface="Pretendard Light"/>
              </a:rPr>
              <a:t>마니또</a:t>
            </a:r>
            <a:r>
              <a:rPr lang="en-US" altLang="ko-KR" sz="2933" dirty="0">
                <a:solidFill>
                  <a:srgbClr val="242424"/>
                </a:solidFill>
                <a:latin typeface="Pretendard Light"/>
                <a:ea typeface="Pretendard Light"/>
              </a:rPr>
              <a:t>’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처럼 팀원간 멘토링으로 역량 증가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60EE837C-BF00-43E9-A323-094BB69318F9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8763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213600" y="-3149600"/>
            <a:ext cx="10236200" cy="2260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1866900"/>
            <a:ext cx="2514600" cy="251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8178800"/>
            <a:ext cx="10261600" cy="4089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463800" y="8763000"/>
            <a:ext cx="9169400" cy="23114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명확한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지시어와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구체적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예시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포함</a:t>
            </a:r>
          </a:p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단계별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작업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지시로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복잡한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생성</a:t>
            </a:r>
          </a:p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역할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부여를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통한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전문성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확보</a:t>
            </a:r>
          </a:p>
          <a:p>
            <a:pPr lvl="0" algn="just">
              <a:lnSpc>
                <a:spcPct val="1328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피드백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반복으로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정교화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6800" y="4826000"/>
            <a:ext cx="10261600" cy="4089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042900" y="5410200"/>
            <a:ext cx="9169400" cy="5207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32800"/>
              </a:lnSpc>
            </a:pPr>
            <a:r>
              <a:rPr lang="en-US" sz="2933" b="0" i="0" u="none" strike="noStrike" dirty="0" err="1">
                <a:solidFill>
                  <a:srgbClr val="242424"/>
                </a:solidFill>
                <a:latin typeface="Pretendard Light"/>
              </a:rPr>
              <a:t>ChatGPT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프롬프트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설계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능력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just">
              <a:lnSpc>
                <a:spcPct val="132800"/>
              </a:lnSpc>
            </a:pP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프롬프트 작성 과정과 결과 및 피드백을 통한 자신감 상승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just">
              <a:lnSpc>
                <a:spcPct val="132800"/>
              </a:lnSpc>
            </a:pP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19400" y="6070600"/>
            <a:ext cx="8445500" cy="787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효과적인</a:t>
            </a:r>
            <a:r>
              <a:rPr lang="en-US" sz="4399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전략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0" y="1308100"/>
            <a:ext cx="3479800" cy="317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27700" y="1282700"/>
            <a:ext cx="774700" cy="1155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4800000">
            <a:off x="22910800" y="2997200"/>
            <a:ext cx="254000" cy="25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4800000">
            <a:off x="22948900" y="2374900"/>
            <a:ext cx="330200" cy="317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4800000">
            <a:off x="18834100" y="2298700"/>
            <a:ext cx="127000" cy="127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17800" y="2476500"/>
            <a:ext cx="1295400" cy="1282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876800" y="2082800"/>
            <a:ext cx="136398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AI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활용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숙련도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향상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11200" y="9829800"/>
            <a:ext cx="8445500" cy="787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최적화</a:t>
            </a:r>
            <a:r>
              <a:rPr lang="en-US" sz="4399" b="0" i="0" u="none" strike="noStrike" spc="-176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>
                <a:solidFill>
                  <a:srgbClr val="FFFFFF"/>
                </a:solidFill>
                <a:ea typeface="MapoDPP"/>
              </a:rPr>
              <a:t>사례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AI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활용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숙련도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향상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2819400" y="8699500"/>
            <a:ext cx="8686800" cy="876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162300" y="8775700"/>
            <a:ext cx="8013700" cy="711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en-US" sz="4000" b="0" i="0" u="none" strike="noStrike" spc="-160">
                <a:solidFill>
                  <a:srgbClr val="242424"/>
                </a:solidFill>
                <a:latin typeface="MapoDPP"/>
              </a:rPr>
              <a:t>Github </a:t>
            </a:r>
            <a:r>
              <a:rPr lang="ko-KR" sz="4000" b="0" i="0" u="none" strike="noStrike" spc="-160">
                <a:solidFill>
                  <a:srgbClr val="242424"/>
                </a:solidFill>
                <a:ea typeface="MapoDPP"/>
              </a:rPr>
              <a:t>페이지</a:t>
            </a:r>
            <a:r>
              <a:rPr lang="en-US" sz="4000" b="0" i="0" u="none" strike="noStrike" spc="-16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spc="-160">
                <a:solidFill>
                  <a:srgbClr val="242424"/>
                </a:solidFill>
                <a:ea typeface="MapoDPP"/>
              </a:rPr>
              <a:t>활용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55900" y="9956800"/>
            <a:ext cx="8801100" cy="24257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무료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웹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호스팅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서비스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방법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습득</a:t>
            </a:r>
          </a:p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마크다운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문법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콘텐츠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작성</a:t>
            </a:r>
          </a:p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템플릿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커스터마이징</a:t>
            </a:r>
          </a:p>
          <a:p>
            <a:pPr lvl="0" algn="just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버전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관리와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협업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기능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2877800" y="8699500"/>
            <a:ext cx="8686800" cy="876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220700" y="8775700"/>
            <a:ext cx="8013700" cy="711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4000" b="0" i="0" u="none" strike="noStrike" spc="-160" dirty="0">
                <a:solidFill>
                  <a:srgbClr val="242424"/>
                </a:solidFill>
                <a:ea typeface="MapoDPP"/>
              </a:rPr>
              <a:t>제작물 공유를 통한 분석</a:t>
            </a:r>
            <a:endParaRPr lang="ko-KR" sz="4000" b="0" i="0" u="none" strike="noStrike" spc="-160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827000" y="9956800"/>
            <a:ext cx="8801100" cy="2425700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1100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 err="1">
                <a:solidFill>
                  <a:srgbClr val="242424"/>
                </a:solidFill>
                <a:ea typeface="Pretendard Light"/>
              </a:rPr>
              <a:t>역설계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 및 제작물 프롬프트 공유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다양한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프로그래밍을 통한 유연적 사고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콘텐츠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업데이트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및 개인 커스터마이징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>
              <a:lnSpc>
                <a:spcPct val="141100"/>
              </a:lnSpc>
            </a:pP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latin typeface="Pretendard Light"/>
              </a:rPr>
              <a:t>실제 필요성에 따라 즉각적인 제작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4D70A129-821E-4379-99C7-66AAD4D8657D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468259-AE35-4C3C-BFC1-C98BECBF77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4733253"/>
            <a:ext cx="9401574" cy="348485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6BE0EF1-D68E-4B51-83D3-CA43DDE7EC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8264" y="4267200"/>
            <a:ext cx="7165736" cy="4034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800" y="5676900"/>
            <a:ext cx="3505200" cy="636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4762500"/>
            <a:ext cx="7950200" cy="3810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8788400"/>
            <a:ext cx="7950200" cy="3810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0700" y="8788400"/>
            <a:ext cx="7950200" cy="3810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0800" y="5410200"/>
            <a:ext cx="749300" cy="1117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업무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활용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효과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사례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89200" y="6477000"/>
            <a:ext cx="6985000" cy="1638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데이터 획득으로 업무소요 시간 삭제</a:t>
            </a:r>
            <a:endParaRPr lang="en-US" alt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l">
              <a:lnSpc>
                <a:spcPct val="124499"/>
              </a:lnSpc>
            </a:pPr>
            <a:r>
              <a:rPr lang="en-US" altLang="ko-KR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경쟁사 자료 획득으로 시장성 분석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489200" y="5791200"/>
            <a:ext cx="6985000" cy="5461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altLang="en-US" sz="3066" b="0" i="0" u="none" strike="noStrike" dirty="0">
                <a:solidFill>
                  <a:srgbClr val="242424"/>
                </a:solidFill>
                <a:ea typeface="MapoDPP"/>
              </a:rPr>
              <a:t>웹 </a:t>
            </a:r>
            <a:r>
              <a:rPr lang="ko-KR" altLang="en-US" sz="3066" b="0" i="0" u="none" strike="noStrike" dirty="0" err="1">
                <a:solidFill>
                  <a:srgbClr val="242424"/>
                </a:solidFill>
                <a:ea typeface="MapoDPP"/>
              </a:rPr>
              <a:t>크롤링</a:t>
            </a:r>
            <a:endParaRPr lang="ko-KR" sz="3066" b="0" i="0" u="none" strike="noStrike" dirty="0">
              <a:solidFill>
                <a:srgbClr val="242424"/>
              </a:solidFill>
              <a:ea typeface="MapoDPP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0700" y="4762500"/>
            <a:ext cx="7950200" cy="3810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5024100" y="6477000"/>
            <a:ext cx="6985000" cy="1638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365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일 접근성 제공으로 반복학습 숙달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 err="1">
                <a:solidFill>
                  <a:srgbClr val="242424"/>
                </a:solidFill>
                <a:ea typeface="Pretendard Light"/>
              </a:rPr>
              <a:t>교보재를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 통한 시각화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</a:t>
            </a:r>
            <a:r>
              <a:rPr lang="ko-KR" altLang="en-US" sz="2933" b="0" i="0" u="none" strike="noStrike" dirty="0">
                <a:solidFill>
                  <a:srgbClr val="242424"/>
                </a:solidFill>
                <a:latin typeface="Pretendard Light"/>
              </a:rPr>
              <a:t>체크포인트를 통한 유의사항 숙지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024100" y="5791200"/>
            <a:ext cx="6985000" cy="5461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altLang="en-US" sz="3066" b="0" i="0" u="none" strike="noStrike" spc="-1" dirty="0" err="1">
                <a:solidFill>
                  <a:srgbClr val="242424"/>
                </a:solidFill>
                <a:ea typeface="MapoDPP"/>
              </a:rPr>
              <a:t>교보재</a:t>
            </a:r>
            <a:endParaRPr lang="ko-KR" sz="3066" b="0" i="0" u="none" strike="noStrike" spc="-1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024100" y="10515600"/>
            <a:ext cx="6985000" cy="1638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교육기관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수업자료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제작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적용</a:t>
            </a:r>
          </a:p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기업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내부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교육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altLang="en-US" sz="2933" dirty="0" err="1">
                <a:solidFill>
                  <a:srgbClr val="242424"/>
                </a:solidFill>
                <a:latin typeface="Pretendard Light"/>
                <a:ea typeface="Pretendard Light"/>
              </a:rPr>
              <a:t>메</a:t>
            </a:r>
            <a:r>
              <a:rPr lang="ko-KR" sz="2933" b="0" i="0" u="none" strike="noStrike" dirty="0" err="1">
                <a:solidFill>
                  <a:srgbClr val="242424"/>
                </a:solidFill>
                <a:ea typeface="Pretendard Light"/>
              </a:rPr>
              <a:t>뉴얼</a:t>
            </a:r>
            <a:r>
              <a:rPr lang="ko-KR" altLang="en-US" sz="2933" dirty="0" err="1">
                <a:solidFill>
                  <a:srgbClr val="242424"/>
                </a:solidFill>
                <a:latin typeface="Pretendard Light"/>
                <a:ea typeface="Pretendard Light"/>
              </a:rPr>
              <a:t>화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 </a:t>
            </a:r>
            <a:r>
              <a:rPr lang="en-US" altLang="ko-KR" sz="2933" dirty="0">
                <a:solidFill>
                  <a:srgbClr val="242424"/>
                </a:solidFill>
                <a:latin typeface="Pretendard Light"/>
                <a:ea typeface="Pretendard Light"/>
              </a:rPr>
              <a:t>( AI</a:t>
            </a:r>
            <a:r>
              <a:rPr lang="ko-KR" altLang="en-US" sz="2933" dirty="0">
                <a:solidFill>
                  <a:srgbClr val="242424"/>
                </a:solidFill>
                <a:latin typeface="Pretendard Light"/>
                <a:ea typeface="Pretendard Light"/>
              </a:rPr>
              <a:t>교육 </a:t>
            </a:r>
            <a:r>
              <a:rPr lang="en-US" altLang="ko-KR" sz="2933" dirty="0">
                <a:solidFill>
                  <a:srgbClr val="242424"/>
                </a:solidFill>
                <a:latin typeface="Pretendard Light"/>
                <a:ea typeface="Pretendard Light"/>
              </a:rPr>
              <a:t>)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취업지원센터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24100" y="9817100"/>
            <a:ext cx="6985000" cy="5461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sz="3066" b="0" i="0" u="none" strike="noStrike" spc="-1">
                <a:solidFill>
                  <a:srgbClr val="242424"/>
                </a:solidFill>
                <a:ea typeface="MapoDPP"/>
              </a:rPr>
              <a:t>실무</a:t>
            </a:r>
            <a:r>
              <a:rPr lang="en-US" sz="3066" b="0" i="0" u="none" strike="noStrike" spc="-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">
                <a:solidFill>
                  <a:srgbClr val="242424"/>
                </a:solidFill>
                <a:ea typeface="MapoDPP"/>
              </a:rPr>
              <a:t>적용</a:t>
            </a:r>
            <a:r>
              <a:rPr lang="en-US" sz="3066" b="0" i="0" u="none" strike="noStrike" spc="-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">
                <a:solidFill>
                  <a:srgbClr val="242424"/>
                </a:solidFill>
                <a:ea typeface="MapoDPP"/>
              </a:rPr>
              <a:t>성공</a:t>
            </a:r>
            <a:r>
              <a:rPr lang="en-US" sz="3066" b="0" i="0" u="none" strike="noStrike" spc="-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">
                <a:solidFill>
                  <a:srgbClr val="242424"/>
                </a:solidFill>
                <a:ea typeface="MapoDPP"/>
              </a:rPr>
              <a:t>사례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89200" y="10515600"/>
            <a:ext cx="6985000" cy="1638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AI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의 전문성을 토대로 다양한 상황 연출</a:t>
            </a:r>
            <a:b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</a:b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altLang="en-US" sz="2933" b="0" i="0" u="none" strike="noStrike" dirty="0" err="1">
                <a:solidFill>
                  <a:srgbClr val="242424"/>
                </a:solidFill>
                <a:ea typeface="Pretendard Light"/>
              </a:rPr>
              <a:t>생각지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 못한 변수들과 추가 제안으로 고도화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  <a:p>
            <a:pPr lvl="0" algn="l">
              <a:lnSpc>
                <a:spcPct val="124499"/>
              </a:lnSpc>
            </a:pP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- </a:t>
            </a:r>
            <a:r>
              <a:rPr lang="en-US" altLang="ko-KR" sz="2933" b="0" i="0" u="none" strike="noStrike" dirty="0">
                <a:solidFill>
                  <a:srgbClr val="242424"/>
                </a:solidFill>
                <a:ea typeface="Pretendard Light"/>
              </a:rPr>
              <a:t>AI</a:t>
            </a: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로 구현된 시뮬레이터로 시각화</a:t>
            </a:r>
            <a:endParaRPr lang="ko-KR" sz="2933" b="0" i="0" u="none" strike="noStrike" dirty="0">
              <a:solidFill>
                <a:srgbClr val="242424"/>
              </a:solidFill>
              <a:ea typeface="Pretendard 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489200" y="9817100"/>
            <a:ext cx="6985000" cy="5461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altLang="en-US" sz="3066" spc="-1" dirty="0">
                <a:solidFill>
                  <a:srgbClr val="242424"/>
                </a:solidFill>
                <a:ea typeface="MapoDPP"/>
              </a:rPr>
              <a:t>시뮬레이터</a:t>
            </a:r>
            <a:endParaRPr lang="ko-KR" sz="3066" b="0" i="0" u="none" strike="noStrike" spc="-1" dirty="0">
              <a:solidFill>
                <a:srgbClr val="242424"/>
              </a:solidFill>
              <a:ea typeface="MapoDPP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8C1309E9-A67C-4924-8E78-66C8A47FEA1C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교육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및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프로젝트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만족도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5700" y="7239000"/>
            <a:ext cx="12509500" cy="5168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591800" y="7670800"/>
            <a:ext cx="11430000" cy="45212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32800"/>
              </a:lnSpc>
            </a:pPr>
            <a:r>
              <a:rPr lang="ko-KR" altLang="en-US" sz="2933" b="0" i="0" u="none" strike="noStrike" dirty="0">
                <a:solidFill>
                  <a:srgbClr val="242424"/>
                </a:solidFill>
                <a:ea typeface="Pretendard Light"/>
              </a:rPr>
              <a:t>팀원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들은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'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실무에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바로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적용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가능한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'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실용적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기술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습득에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높은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만족도를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</a:p>
          <a:p>
            <a:pPr lvl="0" algn="just">
              <a:lnSpc>
                <a:spcPct val="132800"/>
              </a:lnSpc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보였습니다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. </a:t>
            </a:r>
          </a:p>
          <a:p>
            <a:pPr lvl="0" algn="just">
              <a:lnSpc>
                <a:spcPct val="132800"/>
              </a:lnSpc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특히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AI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도구를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업무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자동화와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콘텐츠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제작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과정이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실제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업무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환경에서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</a:p>
          <a:p>
            <a:pPr lvl="0" algn="just">
              <a:lnSpc>
                <a:spcPct val="132800"/>
              </a:lnSpc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즉시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가능하다는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점이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높게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평가되었습니다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. </a:t>
            </a:r>
          </a:p>
          <a:p>
            <a:pPr lvl="0" algn="just">
              <a:lnSpc>
                <a:spcPct val="132800"/>
              </a:lnSpc>
            </a:pPr>
            <a:endParaRPr lang="en-US" altLang="ko-KR" sz="2933" dirty="0">
              <a:solidFill>
                <a:srgbClr val="242424"/>
              </a:solidFill>
              <a:latin typeface="Pretendard Light"/>
              <a:ea typeface="Pretendard Light"/>
            </a:endParaRPr>
          </a:p>
          <a:p>
            <a:pPr lvl="0" algn="just">
              <a:lnSpc>
                <a:spcPct val="132800"/>
              </a:lnSpc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프로젝트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결과물은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현업에서의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가능성을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 err="1">
                <a:solidFill>
                  <a:srgbClr val="242424"/>
                </a:solidFill>
                <a:ea typeface="Pretendard Light"/>
              </a:rPr>
              <a:t>검증받아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지속적인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발전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</a:p>
          <a:p>
            <a:pPr lvl="0" algn="just">
              <a:lnSpc>
                <a:spcPct val="132800"/>
              </a:lnSpc>
            </a:pP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가능성을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 dirty="0">
                <a:solidFill>
                  <a:srgbClr val="242424"/>
                </a:solidFill>
                <a:ea typeface="Pretendard Light"/>
              </a:rPr>
              <a:t>확인했습니다</a:t>
            </a:r>
            <a:r>
              <a:rPr lang="en-US" sz="2933" b="0" i="0" u="none" strike="noStrike" dirty="0">
                <a:solidFill>
                  <a:srgbClr val="242424"/>
                </a:solidFill>
                <a:latin typeface="Pretendard Light"/>
              </a:rPr>
              <a:t>.</a:t>
            </a:r>
          </a:p>
          <a:p>
            <a:pPr lvl="0" algn="just">
              <a:lnSpc>
                <a:spcPct val="132800"/>
              </a:lnSpc>
            </a:pPr>
            <a:endParaRPr lang="en-US" sz="2933" b="0" i="0" u="none" strike="noStrike" dirty="0">
              <a:solidFill>
                <a:srgbClr val="242424"/>
              </a:solidFill>
              <a:latin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045700" y="6248400"/>
            <a:ext cx="10426700" cy="7874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실무</a:t>
            </a:r>
            <a:r>
              <a:rPr lang="en-US" sz="4399" b="0" i="0" u="none" strike="noStrike" spc="-176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적용</a:t>
            </a:r>
            <a:r>
              <a:rPr lang="en-US" sz="4399" b="0" i="0" u="none" strike="noStrike" spc="-176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가능성과</a:t>
            </a:r>
            <a:r>
              <a:rPr lang="en-US" sz="4399" b="0" i="0" u="none" strike="noStrike" spc="-176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현업</a:t>
            </a:r>
            <a:r>
              <a:rPr lang="en-US" sz="4399" b="0" i="0" u="none" strike="noStrike" spc="-176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활용도</a:t>
            </a:r>
            <a:r>
              <a:rPr lang="en-US" sz="4399" b="0" i="0" u="none" strike="noStrike" spc="-176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4399" b="0" i="0" u="none" strike="noStrike" spc="-176" dirty="0">
                <a:solidFill>
                  <a:srgbClr val="FFFFFF"/>
                </a:solidFill>
                <a:ea typeface="MapoDPP"/>
              </a:rPr>
              <a:t>검증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38010ECB-162A-4E68-86BB-05DDEFC21589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CF114D6-CB1A-410B-81AC-DE19CEE2F3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5067300"/>
            <a:ext cx="7191375" cy="7277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597400"/>
            <a:ext cx="18796000" cy="2438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95700" y="4965700"/>
            <a:ext cx="45466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결과물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보완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및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확장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계획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45500" y="5003800"/>
            <a:ext cx="12293600" cy="16383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기존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결과물의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지속적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업데이트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새로운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AI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도구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통합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기능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확장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다양한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직무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/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산업별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특화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자료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개발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0" y="7353300"/>
            <a:ext cx="18796000" cy="2438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10109200"/>
            <a:ext cx="18796000" cy="2438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향후</a:t>
            </a:r>
            <a:r>
              <a:rPr lang="en-US" sz="7066" b="0" i="0" u="none" strike="noStrike" spc="-71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FFFFFF"/>
                </a:solidFill>
                <a:ea typeface="MapoDPP"/>
              </a:rPr>
              <a:t>발전방향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95700" y="7721600"/>
            <a:ext cx="45466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품질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개선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및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다양화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전략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45500" y="7759700"/>
            <a:ext cx="12293600" cy="16383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AI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모델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성능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개선을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통한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품질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향상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다국어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지원으로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활용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범위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확대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시각적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요소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강화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인터랙티브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콘텐츠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개발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95700" y="10477500"/>
            <a:ext cx="45466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사용자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피드백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반영</a:t>
            </a:r>
            <a:r>
              <a:rPr lang="en-US" sz="3066" b="0" i="0" u="none" strike="noStrike" spc="-123">
                <a:solidFill>
                  <a:srgbClr val="242424"/>
                </a:solidFill>
                <a:latin typeface="MapoDPP"/>
              </a:rPr>
              <a:t> </a:t>
            </a:r>
            <a:r>
              <a:rPr lang="ko-KR" sz="3066" b="0" i="0" u="none" strike="noStrike" spc="-123">
                <a:solidFill>
                  <a:srgbClr val="242424"/>
                </a:solidFill>
                <a:ea typeface="MapoDPP"/>
              </a:rPr>
              <a:t>방안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45500" y="10515600"/>
            <a:ext cx="12293600" cy="1638300"/>
          </a:xfrm>
          <a:prstGeom prst="rect">
            <a:avLst/>
          </a:prstGeom>
        </p:spPr>
        <p:txBody>
          <a:bodyPr rtlCol="0" anchor="t"/>
          <a:lstStyle/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사용자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경험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데이터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수집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시스템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구축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정기적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피드백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세션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및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개선점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도출</a:t>
            </a:r>
          </a:p>
          <a:p>
            <a:pPr lvl="0" algn="just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-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사용자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참여형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개발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프로세스</a:t>
            </a:r>
            <a:r>
              <a:rPr lang="en-US" sz="2933" b="0" i="0" u="none" strike="noStrike">
                <a:solidFill>
                  <a:srgbClr val="242424"/>
                </a:solidFill>
                <a:latin typeface="Pretendard Light"/>
              </a:rPr>
              <a:t> </a:t>
            </a:r>
            <a:r>
              <a:rPr lang="ko-KR" sz="2933" b="0" i="0" u="none" strike="noStrike">
                <a:solidFill>
                  <a:srgbClr val="242424"/>
                </a:solidFill>
                <a:ea typeface="Pretendard Light"/>
              </a:rPr>
              <a:t>도입</a:t>
            </a: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58E0C1A9-E7CC-43AE-BD30-8899AB87076B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073900" y="-3289300"/>
            <a:ext cx="10236200" cy="2260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5384800"/>
            <a:ext cx="4381500" cy="6692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9791700"/>
            <a:ext cx="876300" cy="1308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677400" y="4495800"/>
            <a:ext cx="11734800" cy="3200400"/>
          </a:xfrm>
          <a:prstGeom prst="rect">
            <a:avLst/>
          </a:prstGeom>
        </p:spPr>
        <p:txBody>
          <a:bodyPr lIns="0" tIns="0" rIns="0" bIns="59266" rtlCol="0" anchor="b"/>
          <a:lstStyle/>
          <a:p>
            <a:pPr lvl="0" algn="l">
              <a:lnSpc>
                <a:spcPct val="107899"/>
              </a:lnSpc>
            </a:pPr>
            <a:r>
              <a:rPr lang="ko-KR" altLang="en-US" sz="9333" b="0" i="0" u="none" strike="noStrike" spc="-93" dirty="0">
                <a:solidFill>
                  <a:srgbClr val="FFFFFF"/>
                </a:solidFill>
                <a:ea typeface="MapoDPP"/>
              </a:rPr>
              <a:t>다각도로 활용</a:t>
            </a:r>
            <a:endParaRPr lang="ko-KR" sz="9333" b="0" i="0" u="none" strike="noStrike" spc="-93" dirty="0">
              <a:solidFill>
                <a:srgbClr val="FFFFFF"/>
              </a:solidFill>
              <a:ea typeface="MapoDPP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677400" y="9118600"/>
            <a:ext cx="10972800" cy="2641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41100"/>
              </a:lnSpc>
            </a:pP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en-US" altLang="ko-KR" sz="3199" b="0" i="0" u="none" strike="noStrike" dirty="0">
                <a:solidFill>
                  <a:srgbClr val="FFFFFF"/>
                </a:solidFill>
                <a:ea typeface="Pretendard Regular"/>
              </a:rPr>
              <a:t>AI</a:t>
            </a:r>
            <a:r>
              <a:rPr lang="ko-KR" altLang="en-US" sz="3199" b="0" i="0" u="none" strike="noStrike" dirty="0">
                <a:solidFill>
                  <a:srgbClr val="FFFFFF"/>
                </a:solidFill>
                <a:ea typeface="Pretendard Regular"/>
              </a:rPr>
              <a:t>와 관련 없다는 직무분야 선도하는 </a:t>
            </a:r>
            <a:r>
              <a:rPr lang="ko-KR" altLang="en-US" sz="3199" b="0" i="0" u="none" strike="noStrike" dirty="0" err="1">
                <a:solidFill>
                  <a:srgbClr val="FFFFFF"/>
                </a:solidFill>
                <a:ea typeface="Pretendard Regular"/>
              </a:rPr>
              <a:t>교보재</a:t>
            </a:r>
            <a:endParaRPr lang="ko-KR" sz="3199" b="0" i="0" u="none" strike="noStrike" dirty="0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41100"/>
              </a:lnSpc>
            </a:pP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ko-KR" altLang="en-US" sz="3199" b="0" i="0" u="none" strike="noStrike" dirty="0">
                <a:solidFill>
                  <a:srgbClr val="FFFFFF"/>
                </a:solidFill>
                <a:ea typeface="Pretendard Regular"/>
              </a:rPr>
              <a:t>교육 시각화로 </a:t>
            </a:r>
            <a:r>
              <a:rPr lang="ko-KR" altLang="en-US" sz="3199" b="0" i="0" u="none" strike="noStrike" dirty="0" err="1">
                <a:solidFill>
                  <a:srgbClr val="FFFFFF"/>
                </a:solidFill>
                <a:ea typeface="Pretendard Regular"/>
              </a:rPr>
              <a:t>습득력</a:t>
            </a:r>
            <a:r>
              <a:rPr lang="ko-KR" altLang="en-US" sz="3199" b="0" i="0" u="none" strike="noStrike" dirty="0">
                <a:solidFill>
                  <a:srgbClr val="FFFFFF"/>
                </a:solidFill>
                <a:ea typeface="Pretendard Regular"/>
              </a:rPr>
              <a:t> 증대</a:t>
            </a:r>
            <a:endParaRPr lang="ko-KR" sz="3199" b="0" i="0" u="none" strike="noStrike" dirty="0">
              <a:solidFill>
                <a:srgbClr val="FFFFFF"/>
              </a:solidFill>
              <a:ea typeface="Pretendard Regular"/>
            </a:endParaRPr>
          </a:p>
          <a:p>
            <a:pPr lvl="0" algn="l">
              <a:lnSpc>
                <a:spcPct val="141100"/>
              </a:lnSpc>
            </a:pP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지역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특화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산업과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연계한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AI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활용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교육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콘텐츠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개발</a:t>
            </a:r>
          </a:p>
          <a:p>
            <a:pPr lvl="0" algn="l">
              <a:lnSpc>
                <a:spcPct val="141100"/>
              </a:lnSpc>
            </a:pP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-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지속가능한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발전을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3199" b="0" i="0" u="none" strike="noStrike" dirty="0">
                <a:solidFill>
                  <a:srgbClr val="FFFFFF"/>
                </a:solidFill>
                <a:ea typeface="Pretendard Regular"/>
              </a:rPr>
              <a:t>위한</a:t>
            </a:r>
            <a:r>
              <a:rPr lang="en-US" sz="3199" b="0" i="0" u="none" strike="noStrike" dirty="0">
                <a:solidFill>
                  <a:srgbClr val="FFFFFF"/>
                </a:solidFill>
                <a:latin typeface="Pretendard Regular"/>
              </a:rPr>
              <a:t> </a:t>
            </a:r>
            <a:r>
              <a:rPr lang="en-US" altLang="ko-KR" sz="3199" b="0" i="0" u="none" strike="noStrike" dirty="0">
                <a:solidFill>
                  <a:srgbClr val="FFFFFF"/>
                </a:solidFill>
                <a:ea typeface="Pretendard Regular"/>
              </a:rPr>
              <a:t> </a:t>
            </a:r>
            <a:r>
              <a:rPr lang="ko-KR" altLang="en-US" sz="3199" b="0" i="0" u="none" strike="noStrike" dirty="0">
                <a:solidFill>
                  <a:srgbClr val="FFFFFF"/>
                </a:solidFill>
                <a:ea typeface="Pretendard Regular"/>
              </a:rPr>
              <a:t>역량 증가로 </a:t>
            </a:r>
            <a:r>
              <a:rPr lang="ko-KR" altLang="en-US" sz="3199" b="0" i="0" u="none" strike="noStrike" dirty="0" err="1">
                <a:solidFill>
                  <a:srgbClr val="FFFFFF"/>
                </a:solidFill>
                <a:ea typeface="Pretendard Regular"/>
              </a:rPr>
              <a:t>취업처</a:t>
            </a:r>
            <a:r>
              <a:rPr lang="ko-KR" altLang="en-US" sz="3199" b="0" i="0" u="none" strike="noStrike" dirty="0">
                <a:solidFill>
                  <a:srgbClr val="FFFFFF"/>
                </a:solidFill>
                <a:ea typeface="Pretendard Regular"/>
              </a:rPr>
              <a:t> 확보 및 교육자료 생성</a:t>
            </a:r>
            <a:endParaRPr lang="ko-KR" sz="3199" b="0" i="0" u="none" strike="noStrike" dirty="0">
              <a:solidFill>
                <a:srgbClr val="FFFFFF"/>
              </a:solidFill>
              <a:ea typeface="Pretendard Regular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향후</a:t>
            </a:r>
            <a:r>
              <a:rPr lang="en-US" sz="7066" b="0" i="0" u="none" strike="noStrike" spc="-71">
                <a:solidFill>
                  <a:srgbClr val="242424"/>
                </a:solidFill>
                <a:latin typeface="MapoDPP"/>
              </a:rPr>
              <a:t> </a:t>
            </a:r>
            <a:r>
              <a:rPr lang="ko-KR" sz="7066" b="0" i="0" u="none" strike="noStrike" spc="-71">
                <a:solidFill>
                  <a:srgbClr val="242424"/>
                </a:solidFill>
                <a:ea typeface="MapoDPP"/>
              </a:rPr>
              <a:t>발전방향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6BF7FBB3-877C-4E2F-889C-3C9A8DD392A5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736600"/>
            <a:ext cx="22606000" cy="369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7112000" y="-3556000"/>
            <a:ext cx="10172700" cy="22631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00" y="5689600"/>
            <a:ext cx="4292600" cy="436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4998700" y="7442200"/>
            <a:ext cx="774700" cy="1155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0396200" y="8928100"/>
            <a:ext cx="254000" cy="254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20942300" y="8864600"/>
            <a:ext cx="330200" cy="31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21107400" y="8318500"/>
            <a:ext cx="127000" cy="127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743200" y="5778500"/>
            <a:ext cx="12230100" cy="6642100"/>
          </a:xfrm>
          <a:prstGeom prst="rect">
            <a:avLst/>
          </a:prstGeom>
        </p:spPr>
        <p:txBody>
          <a:bodyPr lIns="0" tIns="67733" rIns="0" bIns="0" rtlCol="0" anchor="t"/>
          <a:lstStyle/>
          <a:p>
            <a:pPr marL="571500" lvl="0" indent="-571500">
              <a:lnSpc>
                <a:spcPct val="99600"/>
              </a:lnSpc>
              <a:buFontTx/>
              <a:buChar char="-"/>
            </a:pP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새로운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개발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: </a:t>
            </a:r>
          </a:p>
          <a:p>
            <a:pPr lvl="0">
              <a:lnSpc>
                <a:spcPct val="99600"/>
              </a:lnSpc>
            </a:pPr>
            <a:r>
              <a:rPr lang="en-US" altLang="ko-KR" sz="4000" dirty="0">
                <a:solidFill>
                  <a:srgbClr val="242424"/>
                </a:solidFill>
                <a:latin typeface="MapoDPP"/>
                <a:ea typeface="MapoDPP"/>
              </a:rPr>
              <a:t>           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산업별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특화된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AI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활용</a:t>
            </a:r>
            <a:r>
              <a:rPr lang="en-US" altLang="ko-KR" sz="4000" b="0" i="0" u="none" strike="noStrike" dirty="0">
                <a:solidFill>
                  <a:srgbClr val="242424"/>
                </a:solidFill>
                <a:ea typeface="MapoDPP"/>
              </a:rPr>
              <a:t> </a:t>
            </a:r>
            <a:r>
              <a:rPr lang="ko-KR" altLang="en-US" sz="4000" b="0" i="0" u="none" strike="noStrike" dirty="0">
                <a:solidFill>
                  <a:srgbClr val="242424"/>
                </a:solidFill>
                <a:ea typeface="MapoDPP"/>
              </a:rPr>
              <a:t>및 구현</a:t>
            </a:r>
            <a:br>
              <a:rPr lang="en-US" altLang="ko-KR" sz="4000" b="0" i="0" u="none" strike="noStrike" dirty="0">
                <a:solidFill>
                  <a:srgbClr val="242424"/>
                </a:solidFill>
                <a:ea typeface="MapoDPP"/>
              </a:rPr>
            </a:br>
            <a:endParaRPr lang="ko-KR" sz="4000" b="0" i="0" u="none" strike="noStrike" dirty="0">
              <a:solidFill>
                <a:srgbClr val="242424"/>
              </a:solidFill>
              <a:ea typeface="MapoDPP"/>
            </a:endParaRPr>
          </a:p>
          <a:p>
            <a:pPr marL="571500" lvl="0" indent="-571500">
              <a:lnSpc>
                <a:spcPct val="99600"/>
              </a:lnSpc>
              <a:buFontTx/>
              <a:buChar char="-"/>
            </a:pP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AI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기술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트렌드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반영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: </a:t>
            </a:r>
          </a:p>
          <a:p>
            <a:pPr lvl="0">
              <a:lnSpc>
                <a:spcPct val="99600"/>
              </a:lnSpc>
            </a:pPr>
            <a:r>
              <a:rPr lang="en-US" altLang="ko-KR" sz="4000" dirty="0">
                <a:solidFill>
                  <a:srgbClr val="242424"/>
                </a:solidFill>
                <a:latin typeface="MapoDPP"/>
                <a:ea typeface="MapoDPP"/>
              </a:rPr>
              <a:t>           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최신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생성형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AI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기술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지속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업데이트</a:t>
            </a:r>
            <a:br>
              <a:rPr lang="en-US" altLang="ko-KR" sz="4000" b="0" i="0" u="none" strike="noStrike" dirty="0">
                <a:solidFill>
                  <a:srgbClr val="242424"/>
                </a:solidFill>
                <a:ea typeface="MapoDPP"/>
              </a:rPr>
            </a:br>
            <a:endParaRPr lang="ko-KR" sz="4000" b="0" i="0" u="none" strike="noStrike" dirty="0">
              <a:solidFill>
                <a:srgbClr val="242424"/>
              </a:solidFill>
              <a:ea typeface="MapoDPP"/>
            </a:endParaRPr>
          </a:p>
          <a:p>
            <a:pPr marL="571500" lvl="0" indent="-571500">
              <a:lnSpc>
                <a:spcPct val="99600"/>
              </a:lnSpc>
              <a:buFontTx/>
              <a:buChar char="-"/>
            </a:pPr>
            <a:r>
              <a:rPr lang="ko-KR" altLang="en-US" sz="4000" b="0" i="0" u="none" strike="noStrike" dirty="0">
                <a:solidFill>
                  <a:srgbClr val="242424"/>
                </a:solidFill>
                <a:ea typeface="MapoDPP"/>
              </a:rPr>
              <a:t>다양성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극대화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: </a:t>
            </a:r>
          </a:p>
          <a:p>
            <a:pPr lvl="0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242424"/>
                </a:solidFill>
                <a:latin typeface="MapoDPP"/>
                <a:ea typeface="MapoDPP"/>
              </a:rPr>
              <a:t>            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실무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중심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프로젝트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기반</a:t>
            </a:r>
            <a:r>
              <a:rPr lang="ko-KR" altLang="en-US" sz="4000" b="0" i="0" u="none" strike="noStrike" dirty="0">
                <a:solidFill>
                  <a:srgbClr val="242424"/>
                </a:solidFill>
                <a:ea typeface="MapoDPP"/>
              </a:rPr>
              <a:t>으로 다양성 확보</a:t>
            </a:r>
            <a:endParaRPr lang="en-US" altLang="ko-KR" sz="4000" b="0" i="0" u="none" strike="noStrike" dirty="0">
              <a:solidFill>
                <a:srgbClr val="242424"/>
              </a:solidFill>
              <a:ea typeface="MapoDPP"/>
            </a:endParaRPr>
          </a:p>
          <a:p>
            <a:pPr lvl="0">
              <a:lnSpc>
                <a:spcPct val="99600"/>
              </a:lnSpc>
            </a:pPr>
            <a:endParaRPr lang="en-US" sz="4000" b="0" i="0" u="none" strike="noStrike" dirty="0">
              <a:solidFill>
                <a:srgbClr val="242424"/>
              </a:solidFill>
              <a:latin typeface="MapoDPP"/>
            </a:endParaRPr>
          </a:p>
          <a:p>
            <a:pPr lvl="0">
              <a:lnSpc>
                <a:spcPct val="99600"/>
              </a:lnSpc>
            </a:pP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-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프롬프트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엔지니어링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r>
              <a:rPr lang="ko-KR" sz="4000" b="0" i="0" u="none" strike="noStrike" dirty="0">
                <a:solidFill>
                  <a:srgbClr val="242424"/>
                </a:solidFill>
                <a:ea typeface="MapoDPP"/>
              </a:rPr>
              <a:t>심화</a:t>
            </a:r>
            <a:r>
              <a:rPr lang="en-US" sz="4000" b="0" i="0" u="none" strike="noStrike" dirty="0">
                <a:solidFill>
                  <a:srgbClr val="242424"/>
                </a:solidFill>
                <a:latin typeface="MapoDPP"/>
              </a:rPr>
              <a:t> </a:t>
            </a:r>
            <a:endParaRPr lang="ko-KR" sz="4000" b="0" i="0" u="none" strike="noStrike" dirty="0">
              <a:solidFill>
                <a:srgbClr val="242424"/>
              </a:solidFill>
              <a:ea typeface="MapoDPP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68500" y="1727200"/>
            <a:ext cx="2514600" cy="2514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8100" y="2336800"/>
            <a:ext cx="1295400" cy="12827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4876800" y="2082800"/>
            <a:ext cx="14605000" cy="1257300"/>
          </a:xfrm>
          <a:prstGeom prst="rect">
            <a:avLst/>
          </a:prstGeom>
        </p:spPr>
        <p:txBody>
          <a:bodyPr lIns="0" tIns="89745" rIns="0" bIns="89745" rtlCol="0" anchor="ctr"/>
          <a:lstStyle/>
          <a:p>
            <a:pPr lvl="0" algn="l">
              <a:lnSpc>
                <a:spcPct val="99600"/>
              </a:lnSpc>
            </a:pPr>
            <a:r>
              <a:rPr lang="en-US" sz="7066" b="0" i="0" u="none" strike="noStrike" spc="-71" dirty="0">
                <a:solidFill>
                  <a:srgbClr val="FFFFFF"/>
                </a:solidFill>
                <a:latin typeface="MapoDPP"/>
              </a:rPr>
              <a:t>AI </a:t>
            </a:r>
            <a:r>
              <a:rPr lang="ko-KR" sz="7066" b="0" i="0" u="none" strike="noStrike" spc="-71" dirty="0">
                <a:solidFill>
                  <a:srgbClr val="FFFFFF"/>
                </a:solidFill>
                <a:ea typeface="MapoDPP"/>
              </a:rPr>
              <a:t>활용</a:t>
            </a:r>
            <a:r>
              <a:rPr lang="en-US" sz="7066" b="0" i="0" u="none" strike="noStrike" spc="-71" dirty="0">
                <a:solidFill>
                  <a:srgbClr val="FFFFFF"/>
                </a:solidFill>
                <a:latin typeface="MapoDPP"/>
              </a:rPr>
              <a:t> </a:t>
            </a:r>
            <a:r>
              <a:rPr lang="ko-KR" sz="7066" b="0" i="0" u="none" strike="noStrike" spc="-71" dirty="0">
                <a:solidFill>
                  <a:srgbClr val="FFFFFF"/>
                </a:solidFill>
                <a:ea typeface="MapoDPP"/>
              </a:rPr>
              <a:t>다각화</a:t>
            </a: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17AFF2D8-F147-47F9-BA83-188F72F90173}"/>
              </a:ext>
            </a:extLst>
          </p:cNvPr>
          <p:cNvSpPr txBox="1"/>
          <p:nvPr/>
        </p:nvSpPr>
        <p:spPr>
          <a:xfrm>
            <a:off x="19418300" y="3048000"/>
            <a:ext cx="35687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133" b="1" i="0" u="none" strike="noStrike" dirty="0" err="1">
                <a:solidFill>
                  <a:srgbClr val="242424"/>
                </a:solidFill>
                <a:latin typeface="Cinzel Bold"/>
              </a:rPr>
              <a:t>팀명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 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: 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다작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(</a:t>
            </a:r>
            <a:r>
              <a:rPr lang="ko-KR" altLang="en-US" sz="2133" b="1" i="0" u="none" strike="noStrike" dirty="0">
                <a:solidFill>
                  <a:srgbClr val="242424"/>
                </a:solidFill>
                <a:latin typeface="Cinzel Bold"/>
              </a:rPr>
              <a:t>多作</a:t>
            </a:r>
            <a:r>
              <a:rPr lang="en-US" altLang="ko-KR" sz="2133" b="1" i="0" u="none" strike="noStrike" dirty="0">
                <a:solidFill>
                  <a:srgbClr val="242424"/>
                </a:solidFill>
                <a:latin typeface="Cinzel Bold"/>
              </a:rPr>
              <a:t>)</a:t>
            </a:r>
            <a:endParaRPr lang="en" sz="2133" b="1" i="0" u="none" strike="noStrike" dirty="0">
              <a:solidFill>
                <a:srgbClr val="242424"/>
              </a:solidFill>
              <a:latin typeface="Cinzel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1332</Words>
  <Application>Microsoft Office PowerPoint</Application>
  <PresentationFormat>사용자 지정</PresentationFormat>
  <Paragraphs>262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Cinzel Bold</vt:lpstr>
      <vt:lpstr>Calibri</vt:lpstr>
      <vt:lpstr>MapoDPP</vt:lpstr>
      <vt:lpstr>Pretendard SemiBold</vt:lpstr>
      <vt:lpstr>Pretendard Light</vt:lpstr>
      <vt:lpstr>Pretendard Bold</vt:lpstr>
      <vt:lpstr>system-ui</vt:lpstr>
      <vt:lpstr>Pretendard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재성 박</cp:lastModifiedBy>
  <cp:revision>14</cp:revision>
  <dcterms:created xsi:type="dcterms:W3CDTF">2006-08-16T00:00:00Z</dcterms:created>
  <dcterms:modified xsi:type="dcterms:W3CDTF">2025-09-23T06:19:30Z</dcterms:modified>
</cp:coreProperties>
</file>